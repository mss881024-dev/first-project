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0078D4"/>
            </a:solidFill>
          </c:spPr>
          <c:cat>
            <c:strRef>
              <c:f>Sheet1!$A$2:$A$10</c:f>
              <c:strCache>
                <c:ptCount val="9"/>
                <c:pt idx="0">
                  <c:v>ST</c:v>
                </c:pt>
                <c:pt idx="1">
                  <c:v>YM</c:v>
                </c:pt>
                <c:pt idx="2">
                  <c:v>PH</c:v>
                </c:pt>
                <c:pt idx="3">
                  <c:v>STP</c:v>
                </c:pt>
                <c:pt idx="4">
                  <c:v>OT</c:v>
                </c:pt>
                <c:pt idx="5">
                  <c:v>STG</c:v>
                </c:pt>
                <c:pt idx="6">
                  <c:v>HD</c:v>
                </c:pt>
                <c:pt idx="7">
                  <c:v>에코팩</c:v>
                </c:pt>
                <c:pt idx="8">
                  <c:v>기타4개사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23.0</c:v>
                </c:pt>
                <c:pt idx="1">
                  <c:v>16.2</c:v>
                </c:pt>
                <c:pt idx="2">
                  <c:v>14.7</c:v>
                </c:pt>
                <c:pt idx="3">
                  <c:v>8.8</c:v>
                </c:pt>
                <c:pt idx="4">
                  <c:v>7.6</c:v>
                </c:pt>
                <c:pt idx="5">
                  <c:v>4.8</c:v>
                </c:pt>
                <c:pt idx="6">
                  <c:v>4.5</c:v>
                </c:pt>
                <c:pt idx="7">
                  <c:v>1.9</c:v>
                </c:pt>
                <c:pt idx="8">
                  <c:v>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solidFill>
              <a:srgbClr val="50B0F0"/>
            </a:solidFill>
          </c:spPr>
          <c:cat>
            <c:strRef>
              <c:f>Sheet1!$A$2:$A$10</c:f>
              <c:strCache>
                <c:ptCount val="9"/>
                <c:pt idx="0">
                  <c:v>ST</c:v>
                </c:pt>
                <c:pt idx="1">
                  <c:v>YM</c:v>
                </c:pt>
                <c:pt idx="2">
                  <c:v>PH</c:v>
                </c:pt>
                <c:pt idx="3">
                  <c:v>STP</c:v>
                </c:pt>
                <c:pt idx="4">
                  <c:v>OT</c:v>
                </c:pt>
                <c:pt idx="5">
                  <c:v>STG</c:v>
                </c:pt>
                <c:pt idx="6">
                  <c:v>HD</c:v>
                </c:pt>
                <c:pt idx="7">
                  <c:v>에코팩</c:v>
                </c:pt>
                <c:pt idx="8">
                  <c:v>기타4개사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28.2</c:v>
                </c:pt>
                <c:pt idx="1">
                  <c:v>17.9</c:v>
                </c:pt>
                <c:pt idx="2">
                  <c:v>17.3</c:v>
                </c:pt>
                <c:pt idx="3">
                  <c:v>10.0</c:v>
                </c:pt>
                <c:pt idx="4">
                  <c:v>9.7</c:v>
                </c:pt>
                <c:pt idx="5">
                  <c:v>7.6</c:v>
                </c:pt>
                <c:pt idx="6">
                  <c:v>5.7</c:v>
                </c:pt>
                <c:pt idx="7">
                  <c:v>1.5</c:v>
                </c:pt>
                <c:pt idx="8">
                  <c:v>2.3</c:v>
                </c:pt>
              </c:numCache>
            </c:numRef>
          </c:val>
        </c:ser>
        <c:dLbls>
          <c:numFmt formatCode="0.0&quot;억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107C10"/>
            </a:solidFill>
          </c:spPr>
          <c:cat>
            <c:strRef>
              <c:f>Sheet1!$A$2:$A$12</c:f>
              <c:strCache>
                <c:ptCount val="11"/>
                <c:pt idx="0">
                  <c:v>ERP팀</c:v>
                </c:pt>
                <c:pt idx="1">
                  <c:v>아키텍쳐
인프라팀</c:v>
                </c:pt>
                <c:pt idx="2">
                  <c:v>물류IT팀</c:v>
                </c:pt>
                <c:pt idx="3">
                  <c:v>GXPIT팀</c:v>
                </c:pt>
                <c:pt idx="4">
                  <c:v>데이터엑설런스팀</c:v>
                </c:pt>
                <c:pt idx="5">
                  <c:v>정보보안팀</c:v>
                </c:pt>
                <c:pt idx="6">
                  <c:v>GXP서비스
파트</c:v>
                </c:pt>
                <c:pt idx="7">
                  <c:v>AI워크
플레이스팀</c:v>
                </c:pt>
                <c:pt idx="8">
                  <c:v>헬프데스크</c:v>
                </c:pt>
                <c:pt idx="9">
                  <c:v>경영기획팀</c:v>
                </c:pt>
                <c:pt idx="10">
                  <c:v>AX개발팀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25.0</c:v>
                </c:pt>
                <c:pt idx="1">
                  <c:v>15.3</c:v>
                </c:pt>
                <c:pt idx="2">
                  <c:v>12.2</c:v>
                </c:pt>
                <c:pt idx="3">
                  <c:v>8.2</c:v>
                </c:pt>
                <c:pt idx="4">
                  <c:v>7.5</c:v>
                </c:pt>
                <c:pt idx="5">
                  <c:v>0.0</c:v>
                </c:pt>
                <c:pt idx="6">
                  <c:v>3.2</c:v>
                </c:pt>
                <c:pt idx="7">
                  <c:v>4.1</c:v>
                </c:pt>
                <c:pt idx="8">
                  <c:v>4.6</c:v>
                </c:pt>
                <c:pt idx="9">
                  <c:v>3.2</c:v>
                </c:pt>
                <c:pt idx="1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solidFill>
              <a:srgbClr val="6CC24A"/>
            </a:solidFill>
          </c:spPr>
          <c:cat>
            <c:strRef>
              <c:f>Sheet1!$A$2:$A$12</c:f>
              <c:strCache>
                <c:ptCount val="11"/>
                <c:pt idx="0">
                  <c:v>ERP팀</c:v>
                </c:pt>
                <c:pt idx="1">
                  <c:v>아키텍쳐
인프라팀</c:v>
                </c:pt>
                <c:pt idx="2">
                  <c:v>물류IT팀</c:v>
                </c:pt>
                <c:pt idx="3">
                  <c:v>GXPIT팀</c:v>
                </c:pt>
                <c:pt idx="4">
                  <c:v>데이터엑설런스팀</c:v>
                </c:pt>
                <c:pt idx="5">
                  <c:v>정보보안팀</c:v>
                </c:pt>
                <c:pt idx="6">
                  <c:v>GXP서비스
파트</c:v>
                </c:pt>
                <c:pt idx="7">
                  <c:v>AI워크
플레이스팀</c:v>
                </c:pt>
                <c:pt idx="8">
                  <c:v>헬프데스크</c:v>
                </c:pt>
                <c:pt idx="9">
                  <c:v>경영기획팀</c:v>
                </c:pt>
                <c:pt idx="10">
                  <c:v>AX개발팀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25.5</c:v>
                </c:pt>
                <c:pt idx="1">
                  <c:v>23.1</c:v>
                </c:pt>
                <c:pt idx="2">
                  <c:v>10.9</c:v>
                </c:pt>
                <c:pt idx="3">
                  <c:v>8.2</c:v>
                </c:pt>
                <c:pt idx="4">
                  <c:v>7.4</c:v>
                </c:pt>
                <c:pt idx="5">
                  <c:v>6.6</c:v>
                </c:pt>
                <c:pt idx="6">
                  <c:v>5.3</c:v>
                </c:pt>
                <c:pt idx="7">
                  <c:v>5.1</c:v>
                </c:pt>
                <c:pt idx="8">
                  <c:v>4.3</c:v>
                </c:pt>
                <c:pt idx="9">
                  <c:v>3.2</c:v>
                </c:pt>
                <c:pt idx="10">
                  <c:v>0.4</c:v>
                </c:pt>
              </c:numCache>
            </c:numRef>
          </c:val>
        </c:ser>
        <c:dLbls>
          <c:numFmt formatCode="0.0&quot;억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2026년 비용 비중</a:t>
            </a:r>
          </a:p>
        </c:rich>
      </c:tx>
      <c:layout/>
      <c:overlay val="0"/>
    </c:title>
    <c:autoTitleDeleted val="0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비용</c:v>
                </c:pt>
              </c:strCache>
            </c:strRef>
          </c:tx>
          <c:dPt>
            <c:idx val="0"/>
            <c:spPr>
              <a:solidFill>
                <a:srgbClr val="0078D4"/>
              </a:solidFill>
            </c:spPr>
          </c:dPt>
          <c:dPt>
            <c:idx val="1"/>
            <c:spPr>
              <a:solidFill>
                <a:srgbClr val="8764B8"/>
              </a:solidFill>
            </c:spPr>
          </c:dPt>
          <c:cat>
            <c:strRef>
              <c:f>Sheet1!$A$2:$A$3</c:f>
              <c:strCache>
                <c:ptCount val="2"/>
                <c:pt idx="0">
                  <c:v>기존</c:v>
                </c:pt>
                <c:pt idx="1">
                  <c:v>신규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78.7</c:v>
                </c:pt>
                <c:pt idx="1">
                  <c:v>21.4</c:v>
                </c:pt>
              </c:numCache>
            </c:numRef>
          </c:val>
        </c:ser>
        <c:dLbls>
          <c:numFmt formatCode="0.0&quot;억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MM</c:v>
                </c:pt>
              </c:strCache>
            </c:strRef>
          </c:tx>
          <c:spPr>
            <a:solidFill>
              <a:srgbClr val="0078D4"/>
            </a:solidFill>
          </c:spPr>
          <c:cat>
            <c:strRef>
              <c:f>Sheet1!$A$2:$A$4</c:f>
              <c:strCache>
                <c:ptCount val="3"/>
                <c:pt idx="0">
                  <c:v>고급</c:v>
                </c:pt>
                <c:pt idx="1">
                  <c:v>중급</c:v>
                </c:pt>
                <c:pt idx="2">
                  <c:v>초급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16.02</c:v>
                </c:pt>
                <c:pt idx="1">
                  <c:v>22.33</c:v>
                </c:pt>
                <c:pt idx="2">
                  <c:v>16.57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MM</c:v>
                </c:pt>
              </c:strCache>
            </c:strRef>
          </c:tx>
          <c:spPr>
            <a:solidFill>
              <a:srgbClr val="50B0F0"/>
            </a:solidFill>
          </c:spPr>
          <c:cat>
            <c:strRef>
              <c:f>Sheet1!$A$2:$A$4</c:f>
              <c:strCache>
                <c:ptCount val="3"/>
                <c:pt idx="0">
                  <c:v>고급</c:v>
                </c:pt>
                <c:pt idx="1">
                  <c:v>중급</c:v>
                </c:pt>
                <c:pt idx="2">
                  <c:v>초급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19.06</c:v>
                </c:pt>
                <c:pt idx="1">
                  <c:v>27.81</c:v>
                </c:pt>
                <c:pt idx="2">
                  <c:v>22.06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비용</c:v>
                </c:pt>
              </c:strCache>
            </c:strRef>
          </c:tx>
          <c:spPr>
            <a:solidFill>
              <a:srgbClr val="FF8C00"/>
            </a:solidFill>
          </c:spPr>
          <c:cat>
            <c:strRef>
              <c:f>Sheet1!$A$2:$A$4</c:f>
              <c:strCache>
                <c:ptCount val="3"/>
                <c:pt idx="0">
                  <c:v>고급</c:v>
                </c:pt>
                <c:pt idx="1">
                  <c:v>중급</c:v>
                </c:pt>
                <c:pt idx="2">
                  <c:v>초급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32.8</c:v>
                </c:pt>
                <c:pt idx="2">
                  <c:v>24.5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비용</c:v>
                </c:pt>
              </c:strCache>
            </c:strRef>
          </c:tx>
          <c:spPr>
            <a:solidFill>
              <a:srgbClr val="FFB900"/>
            </a:solidFill>
          </c:spPr>
          <c:cat>
            <c:strRef>
              <c:f>Sheet1!$A$2:$A$4</c:f>
              <c:strCache>
                <c:ptCount val="3"/>
                <c:pt idx="0">
                  <c:v>고급</c:v>
                </c:pt>
                <c:pt idx="1">
                  <c:v>중급</c:v>
                </c:pt>
                <c:pt idx="2">
                  <c:v>초급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30.8</c:v>
                </c:pt>
                <c:pt idx="1">
                  <c:v>39.9</c:v>
                </c:pt>
                <c:pt idx="2">
                  <c:v>29.4</c:v>
                </c:pt>
              </c:numCache>
            </c:numRef>
          </c:val>
        </c:ser>
        <c:dLbls>
          <c:numFmt formatCode="0.0&quot;억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담당 항목수</c:v>
                </c:pt>
              </c:strCache>
            </c:strRef>
          </c:tx>
          <c:spPr>
            <a:solidFill>
              <a:srgbClr val="FF8C00"/>
            </a:solidFill>
          </c:spPr>
          <c:cat>
            <c:strRef>
              <c:f>Sheet1!$A$2:$A$11</c:f>
              <c:strCache>
                <c:ptCount val="10"/>
                <c:pt idx="0">
                  <c:v>정혜일</c:v>
                </c:pt>
                <c:pt idx="1">
                  <c:v>조원재</c:v>
                </c:pt>
                <c:pt idx="2">
                  <c:v>심현호</c:v>
                </c:pt>
                <c:pt idx="3">
                  <c:v>TBD(PM)</c:v>
                </c:pt>
                <c:pt idx="4">
                  <c:v>TBD(Cl)</c:v>
                </c:pt>
                <c:pt idx="5">
                  <c:v>맹호빈</c:v>
                </c:pt>
                <c:pt idx="6">
                  <c:v>이주렬</c:v>
                </c:pt>
                <c:pt idx="7">
                  <c:v>임만수</c:v>
                </c:pt>
                <c:pt idx="8">
                  <c:v>TBD(S)</c:v>
                </c:pt>
                <c:pt idx="9">
                  <c:v>윤종호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</c:v>
                </c:pt>
                <c:pt idx="1">
                  <c:v>16</c:v>
                </c:pt>
                <c:pt idx="2">
                  <c:v>15</c:v>
                </c:pt>
                <c:pt idx="3">
                  <c:v>13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12</c:v>
                </c:pt>
                <c:pt idx="9">
                  <c:v>12</c:v>
                </c:pt>
              </c:numCache>
            </c:numRef>
          </c:val>
        </c:ser>
        <c:dLbls>
          <c:numFmt formatCode="0&quot;개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최소단가(만원)</c:v>
                </c:pt>
              </c:strCache>
            </c:strRef>
          </c:tx>
          <c:spPr>
            <a:solidFill>
              <a:srgbClr val="0078D4"/>
            </a:solidFill>
          </c:spPr>
          <c:cat>
            <c:strRef>
              <c:f>Sheet1!$A$2:$A$4</c:f>
              <c:strCache>
                <c:ptCount val="3"/>
                <c:pt idx="0">
                  <c:v>고급</c:v>
                </c:pt>
                <c:pt idx="1">
                  <c:v>중급</c:v>
                </c:pt>
                <c:pt idx="2">
                  <c:v>초급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1009</c:v>
                </c:pt>
                <c:pt idx="1">
                  <c:v>640</c:v>
                </c:pt>
                <c:pt idx="2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최대단가(만원)</c:v>
                </c:pt>
              </c:strCache>
            </c:strRef>
          </c:tx>
          <c:spPr>
            <a:solidFill>
              <a:srgbClr val="D83B01"/>
            </a:solidFill>
          </c:spPr>
          <c:cat>
            <c:strRef>
              <c:f>Sheet1!$A$2:$A$4</c:f>
              <c:strCache>
                <c:ptCount val="3"/>
                <c:pt idx="0">
                  <c:v>고급</c:v>
                </c:pt>
                <c:pt idx="1">
                  <c:v>중급</c:v>
                </c:pt>
                <c:pt idx="2">
                  <c:v>초급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1640</c:v>
                </c:pt>
                <c:pt idx="1">
                  <c:v>4000</c:v>
                </c:pt>
                <c:pt idx="2">
                  <c:v>1484</c:v>
                </c:pt>
              </c:numCache>
            </c:numRef>
          </c:val>
        </c:ser>
        <c:dLbls>
          <c:numFmt formatCode="0&quot;만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FE0FF"/>
                </a:solidFill>
                <a:latin typeface="맑은 고딕"/>
              </a:rPr>
              <a:t>그룹사 IT 용역 계약 변경사항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</a:rPr>
              <a:t>2025 → 2026 계약 구조 분석 및</a:t>
            </a:r>
          </a:p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</a:rPr>
              <a:t>문제점 진단·개선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8E8F7"/>
                </a:solidFill>
                <a:latin typeface="맑은 고딕"/>
              </a:rPr>
              <a:t>계약 데이터 기반 정량 분석  ·  구조적 문제점 8건 진단  ·  3-Phase 정상화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011680" cy="25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0C7DE"/>
                </a:solidFill>
                <a:latin typeface="맑은 고딕"/>
              </a:rPr>
              <a:t>경영진 보고용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1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82296" cy="14173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78D4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190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52526"/>
                </a:solidFill>
                <a:latin typeface="맑은 고딕"/>
              </a:rPr>
              <a:t>예산 증가는 전략적 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76272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총 계약 비용 83.3억 → 100.1억(+20.2%)으로 증가했으나, 증가분의 대부분은 정보보안·인프라 강화를 위한 신규 도입(+20.4억)에서 발생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54680"/>
            <a:ext cx="82296" cy="14173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83B01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192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52526"/>
                </a:solidFill>
                <a:latin typeface="맑은 고딕"/>
              </a:rPr>
              <a:t>계약 구조에 8가지 핵심 문제점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76472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고부하 배정, TBD 미배정(148건), 소규모 배분(574건) 등 구조적 리스크 존재. 특히 등급별 단가 편차(최대 525%)가 가장 심각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5488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54880"/>
            <a:ext cx="82296" cy="141732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07C10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194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52526"/>
                </a:solidFill>
                <a:latin typeface="맑은 고딕"/>
              </a:rPr>
              <a:t>3개월 정상화 로드맵으로 즉시 개선 착수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76672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Phase 1~3 단계적 실행을 통해 TBD 해소, 고부하 재배분, 단가 표준화를 완료하고 계약 효율성 30% 향상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1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목차 (Contents)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82296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8D4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64792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52526"/>
                </a:solidFill>
                <a:latin typeface="맑은 고딕"/>
              </a:rPr>
              <a:t>현황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2199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2025→2026 계약 데이터 정량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659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078D4"/>
                </a:solidFill>
                <a:latin typeface="맑은 고딕"/>
              </a:rPr>
              <a:t>4 –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98648"/>
            <a:ext cx="82296" cy="105156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83B01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71800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52526"/>
                </a:solidFill>
                <a:latin typeface="맑은 고딕"/>
              </a:rPr>
              <a:t>문제점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29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계약 구조 8대 문제점 진단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1729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D83B01"/>
                </a:solidFill>
                <a:latin typeface="맑은 고딕"/>
              </a:rPr>
              <a:t>12 – 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05656"/>
            <a:ext cx="82296" cy="105156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51376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7C10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78808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52526"/>
                </a:solidFill>
                <a:latin typeface="맑은 고딕"/>
              </a:rPr>
              <a:t>개선 방법론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3600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Framework · 표준 단가 · 로드맵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37997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107C10"/>
                </a:solidFill>
                <a:latin typeface="맑은 고딕"/>
              </a:rPr>
              <a:t>22 – 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12664"/>
            <a:ext cx="82296" cy="105156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5838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666666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385816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52526"/>
                </a:solidFill>
                <a:latin typeface="맑은 고딕"/>
              </a:rPr>
              <a:t>부록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4301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Top 10 · 용어 · 데이터 출처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58698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666666"/>
                </a:solidFill>
                <a:latin typeface="맑은 고딕"/>
              </a:rPr>
              <a:t>28 – 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전체 요약 – 숫자로 보는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4008" cy="1645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총 공수 (MM)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68.93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78D4"/>
                </a:solidFill>
                <a:latin typeface="맑은 고딕"/>
              </a:rPr>
              <a:t>▲ +13.30 MM (+23.9%)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64008" cy="164592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총 연간 비용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100.1억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88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83B01"/>
                </a:solidFill>
                <a:latin typeface="맑은 고딕"/>
              </a:rPr>
              <a:t>▲ +16.8억 (+20.2%)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00200"/>
            <a:ext cx="64008" cy="16459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공수 배정 건수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5740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916건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88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8C00"/>
                </a:solidFill>
                <a:latin typeface="맑은 고딕"/>
              </a:rPr>
              <a:t>▲ +365건 (+66.2%)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526"/>
                </a:solidFill>
                <a:latin typeface="맑은 고딕"/>
              </a:rPr>
              <a:t>2025년 vs 2026년 비교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393192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201168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2025년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2026년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증감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증감률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총 공수 (MM)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55.63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68.93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+13.30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+23.9%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총 연간 비용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83.3억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100.1억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+16.8억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+20.2%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공수 배정 건수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551건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916건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+365건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+66.2%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비용 구조 변화 – Waterfall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2025년 83.3억 → 2026년 100.1억 (+16.8억, +20.2%) : 증가분의 121%가 신규 도입에서 발생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943600"/>
            <a:ext cx="100584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896820"/>
            <a:ext cx="1920240" cy="30467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277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83.3억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5332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2025년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총 비용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8560" y="2896820"/>
            <a:ext cx="1920240" cy="131673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560" y="251277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83B01"/>
                </a:solidFill>
                <a:latin typeface="맑은 고딕"/>
              </a:rPr>
              <a:t>-3.6억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8560" y="605332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기존 계약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변동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1280" y="2282343"/>
            <a:ext cx="1920240" cy="74615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1280" y="1898295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8764B8"/>
                </a:solidFill>
                <a:latin typeface="맑은 고딕"/>
              </a:rPr>
              <a:t>+20.4억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1280" y="605332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신규 도입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증가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2343"/>
            <a:ext cx="1920240" cy="3661257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98295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100.1억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05332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2026년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2526"/>
                </a:solidFill>
                <a:latin typeface="맑은 고딕"/>
              </a:rPr>
              <a:t>총 비용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회사별 분석 – 2025 vs 2026 비용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417320"/>
          <a:ext cx="111556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회사별 분석 – 비용 증감 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65836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00200"/>
                <a:gridCol w="1600200"/>
                <a:gridCol w="164592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회사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25년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26년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비용 증감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23.0억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28.2억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+5.1억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STG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4.8억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7.6억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+2.7억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PH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14.7억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17.3억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+2.6억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OT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7.6억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9.7억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+2.2억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YM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16.2억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17.9억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+1.8억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STP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8.8억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10.0억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+1.2억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HD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4.5억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5.7억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+1.2억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기타4개사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1.9억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2.3억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+0.4억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07C10"/>
                          </a:solidFill>
                          <a:latin typeface="맑은 고딕"/>
                        </a:rPr>
                        <a:t>에코팩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7C10"/>
                          </a:solidFill>
                          <a:latin typeface="맑은 고딕"/>
                        </a:rPr>
                        <a:t>1.9억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7C10"/>
                          </a:solidFill>
                          <a:latin typeface="맑은 고딕"/>
                        </a:rPr>
                        <a:t>1.5억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07C10"/>
                          </a:solidFill>
                          <a:latin typeface="맑은 고딕"/>
                        </a:rPr>
                        <a:t>-0.4억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1463040"/>
            <a:ext cx="4251960" cy="466344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💡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48840"/>
            <a:ext cx="374903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ST社가 +5.1억으로 최대 증가, 전체 증가분의 30% 차지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STG社(+2.7억)는 IT운영지원 계약 신설 영향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에코팩만 유일하게 비용 감소(-0.4억)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상위 3개사(ST·YM·PH) 비중이 전체의 63% 로 편중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팀별 분석 – 2025 vs 2026 비용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417320"/>
          <a:ext cx="11430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팀별 분석 – 신설 조직 및 주요 증감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6766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08760"/>
                <a:gridCol w="150876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25년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26년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비용 증감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15.3억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23.1억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+7.8억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정보보안팀 (신설)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0.0억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6.6억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+6.6억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GXP서비스파트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3.2억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5.3억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+2.1억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AI워크플레이스팀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4.1억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5.1억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+1.0억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ERP팀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25.0억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25.5억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+0.6억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AX개발팀 (신설)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0.0억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+0.4억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물류 IT팀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12.2억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10.9억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-1.4억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463040"/>
            <a:ext cx="4114800" cy="4023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7C10"/>
                </a:solidFill>
                <a:latin typeface="맑은 고딕"/>
              </a:rPr>
              <a:t>💡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4884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아키텍쳐인프라팀이 +7.8억으로 전체 팀 중 최대 증가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정보보안팀·AX개발팀은 2026년 신설 → 신규 투자 영역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물류 IT팀만 비용 감소(-1.4억), 업무 효율화 추정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764B8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도입구분별 분석 – 기존 vs 신규 (핵심)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17320"/>
                <a:gridCol w="1417320"/>
                <a:gridCol w="137160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도입구분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25년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26년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비용 증감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기존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82.3억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78.7억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-3.6억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신규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1.0억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21.4억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764B8"/>
                          </a:solidFill>
                          <a:latin typeface="맑은 고딕"/>
                        </a:rPr>
                        <a:t>+20.4억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371600"/>
          <a:ext cx="52120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246120"/>
            <a:ext cx="5760720" cy="2011680"/>
          </a:xfrm>
          <a:prstGeom prst="roundRect">
            <a:avLst>
              <a:gd name="adj" fmla="val 8000"/>
            </a:avLst>
          </a:prstGeom>
          <a:solidFill>
            <a:srgbClr val="F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764B8"/>
                </a:solidFill>
                <a:latin typeface="맑은 고딕"/>
              </a:rPr>
              <a:t>🚨 핵심 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신규 도입 항목이 전체 증가분(+16.8억)의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121%를 차지 → 예산 증가의 실질적 원인은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신규 투자(주로 보안·인프라)이며, 기존 계약은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오히려 3.6억 절감됨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2 ·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등급별 인력 구성 – 고급/중급/초급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2526"/>
                </a:solidFill>
                <a:latin typeface="맑은 고딕"/>
              </a:rPr>
              <a:t>공수 (MM)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6916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258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2526"/>
                </a:solidFill>
                <a:latin typeface="맑은 고딕"/>
              </a:rPr>
              <a:t>비용 (억원)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691640"/>
          <a:ext cx="548640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계약 구조 문제점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931920"/>
                <a:gridCol w="1920240"/>
                <a:gridCol w="1920240"/>
                <a:gridCol w="283464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문제 유형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심각도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영향 금액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고부하 배정 (0.8MM 이상)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7건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🔴 높음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10.2억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다중 항목 담당 (10개+)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17명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🟠 중간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25.7억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다중 담당자 항목 (5명+)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30건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🟠 중간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TBD/미배정 담당자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148건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🔴 높음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3.5억+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단가 급변동 (±30%+)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45건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🟠 중간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등급별 단가 불일치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3등급 전부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🔴 높음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전체 영향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소규모 배분 (0.05MM↓)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574건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🟡 낮음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관리비용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담당자+항목 1MM 초과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3건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🔴 높음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6"/>
                          </a:solidFill>
                          <a:latin typeface="맑은 고딕"/>
                        </a:rPr>
                        <a:t>4.8억</a:t>
                      </a:r>
                    </a:p>
                  </a:txBody>
                  <a:tcPr marL="76200" marR="76200" marT="25400" marB="25400" anchor="ctr">
                    <a:solidFill>
                      <a:srgbClr val="FCE4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고부하 배정 (0.8MM 이상)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3B01"/>
                </a:solidFill>
                <a:latin typeface="맑은 고딕"/>
              </a:rPr>
              <a:t>🔴 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한 사람이 한 시스템에 월 80% 이상 투입 → 휴가·이직 시 업무 공백 리스크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74519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  <a:gridCol w="2011680"/>
                <a:gridCol w="1554480"/>
                <a:gridCol w="2103120"/>
              </a:tblGrid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회사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담당자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MM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YM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규제 준수 및 인증 심사 지원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오성범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1.1억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HD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빅데이터포털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김민호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1.5억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CS Admin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이승현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1.6억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STP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CS Admin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마수빈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1.6억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SAP B1 ERP 생산(BM)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우승원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1.5억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STP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에스티팜 QMS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정소희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0.95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1.5억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STG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IT운영지원 계약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이민형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0.92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1.4억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다중 항목 담당자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C00"/>
                </a:solidFill>
                <a:latin typeface="맑은 고딕"/>
              </a:rPr>
              <a:t>🟠 중간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한 사람이 너무 많은 시스템 담당 → 집중도 저하, 품질 리스크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1828800"/>
          <a:ext cx="6492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23760" y="1828800"/>
            <a:ext cx="4434840" cy="44805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0574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8C00"/>
                </a:solidFill>
                <a:latin typeface="맑은 고딕"/>
              </a:rPr>
              <a:t>💡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14600"/>
            <a:ext cx="39319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정혜일(물류IT팀): 24개 항목, 0.62MM, 1.0억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조원재: 16개 항목, 1.37MM, 2.4억 (최고비용)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Top 10 중 8명이 아키텍쳐인프라팀 소속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  → 문제 집중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TBD 3건 포함 → 미배정 상태로 다항목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다중 담당자 항목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C00"/>
                </a:solidFill>
                <a:latin typeface="맑은 고딕"/>
              </a:rPr>
              <a:t>🟠 중간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한 항목에 너무 많은 담당자 → 책임 분산, 커뮤니케이션 복잡도 증가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74519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1188720"/>
                <a:gridCol w="128016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담당자 수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총 MM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총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EAI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9명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2.30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2.7억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운용 서버 규모 279.5대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8명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1.29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2.1억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운용 서버 규모 146.8대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8명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0.62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0.8억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운용 서버 규모 76.5대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8명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0.28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(기타 서버 운용 항목)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8명씩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80960" y="1874519"/>
            <a:ext cx="3977639" cy="31089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1031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8C00"/>
                </a:solidFill>
                <a:latin typeface="맑은 고딕"/>
              </a:rPr>
              <a:t>💡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560320"/>
            <a:ext cx="3474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서버 운용 관련 항목에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8명씩 균일 배정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→ 비효율적 세분화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EAI는 9명 배정, 2.7억 규모로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가장 복잡한 책임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TBD / 미배정 담당자 (148건)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3B01"/>
                </a:solidFill>
                <a:latin typeface="맑은 고딕"/>
              </a:rPr>
              <a:t>🔴 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담당자 미확정 상태로 계약 체결 → 실행력 저하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74519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286000"/>
                <a:gridCol w="164592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담당자 유형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총 비용(추정)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TBD2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다수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정보보안팀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1.5억+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TBD(PM)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13건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TBD(Cl)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13건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1.7억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TBD(S)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12건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1.1억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80960" y="1874519"/>
            <a:ext cx="3977639" cy="2651760"/>
          </a:xfrm>
          <a:prstGeom prst="roundRect">
            <a:avLst>
              <a:gd name="adj" fmla="val 8000"/>
            </a:avLst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57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83B01"/>
                </a:solidFill>
                <a:latin typeface="맑은 고딕"/>
              </a:rPr>
              <a:t>🚨 핵심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468880"/>
            <a:ext cx="3474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정보보안팀(신설)의 신규 업무에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TBD가 집중되어 있어,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조직 신설과 동시에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담당자 확정이 필요함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총 148건 중 TBD(PM/Cl/S) 38건은 아키텍쳐인프라팀에 집중 — 조직 개편 이후 후속 인력 배치 지연 추정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단가 급변동 (±30% 이상, 45건)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C00"/>
                </a:solidFill>
                <a:latin typeface="맑은 고딕"/>
              </a:rPr>
              <a:t>🟠 중간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전년 대비 단가 급등/급락 → 예산 예측 어려움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920240"/>
          <a:ext cx="7498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대표 사례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25년 단가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26년 단가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변동률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헬프데스크 중급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777만원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1,284만원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+65%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YM 초급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777만원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480만원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8D4"/>
                          </a:solidFill>
                          <a:latin typeface="맑은 고딕"/>
                        </a:rPr>
                        <a:t>-38%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3749039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8C00"/>
                </a:solidFill>
                <a:latin typeface="맑은 고딕"/>
              </a:rPr>
              <a:t>💡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45건의 단가가 전년 대비 ±30% 이상 변동 — 등급·시장단가 기준 없이 개별 협상된 결과로 추정되며,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예산 수립 시 전년 대비 예측 신뢰도를 저하시킴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등급별 단가 불일치 (가장 심각)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3B01"/>
                </a:solidFill>
                <a:latin typeface="맑은 고딕"/>
              </a:rPr>
              <a:t>🔴 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같은 등급인데 단가가 크게 다름 → 계약 형평성 문제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74519"/>
          <a:ext cx="7040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371600"/>
                <a:gridCol w="137160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최소 단가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최대 단가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편차율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단가 종류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중급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640만원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4,000만원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525%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11종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초급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480만원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1,484만원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209%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11종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고급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1,009만원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1,640만원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62%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9종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1874519"/>
            <a:ext cx="3886200" cy="4206240"/>
          </a:xfrm>
          <a:prstGeom prst="roundRect">
            <a:avLst>
              <a:gd name="adj" fmla="val 8000"/>
            </a:avLst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83B01"/>
                </a:solidFill>
                <a:latin typeface="맑은 고딕"/>
              </a:rPr>
              <a:t>6.25배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78892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중급 등급 내 최소 640만원 vs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최대 4,000만원 — 동일 등급임에도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6.25배 단가 차이 발생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02920" y="4434840"/>
          <a:ext cx="704088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소규모 배분 (0.05MM 이하, 574건)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900"/>
                </a:solidFill>
                <a:latin typeface="맑은 고딕"/>
              </a:rPr>
              <a:t>🟡 낮음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월 4시간 이하의 미미한 업무 세분화 → 관리 오버헤드 발생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92024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356616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문제점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B900"/>
                          </a:solidFill>
                          <a:latin typeface="맑은 고딕"/>
                        </a:rPr>
                        <a:t>0.05MM 이하 배분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B900"/>
                          </a:solidFill>
                          <a:latin typeface="맑은 고딕"/>
                        </a:rPr>
                        <a:t>574건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B900"/>
                          </a:solidFill>
                          <a:latin typeface="맑은 고딕"/>
                        </a:rPr>
                        <a:t>계약서 복잡, 관리비 &gt; 가치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0.01MM (월 1시간) 배분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다수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실질적 업무 수행 불가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503920" y="1920240"/>
            <a:ext cx="3154680" cy="182880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1920240"/>
            <a:ext cx="64008" cy="18288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05740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전체 배정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377440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62.7%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2918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900"/>
                </a:solidFill>
                <a:latin typeface="맑은 고딕"/>
              </a:rPr>
              <a:t>574건 / 916건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6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B900"/>
                </a:solidFill>
                <a:latin typeface="맑은 고딕"/>
              </a:rPr>
              <a:t>💡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전체 916건 중 574건(62.7%)이 0.05MM 이하의 초소규모 배분 — 유사 업무 통합 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계약 건수를 대폭 축소하고 관리 효율을 높일 수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8D4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2526"/>
                </a:solidFill>
                <a:latin typeface="맑은 고딕"/>
              </a:rPr>
              <a:t>담당자+항목 조합 1MM 초과 (3건)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9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3B01"/>
                </a:solidFill>
                <a:latin typeface="맑은 고딕"/>
              </a:rPr>
              <a:t>🔴 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문제: 여러 회사에 동일 업무로 배분되어 합계가 1MM 초과 → 과다 배분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92024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1554480"/>
                <a:gridCol w="548640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담당자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합계 MM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배정 회사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김현주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D-Portal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1.04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HD, ST, PH, STG, OT (5개사)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황현서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전산자산관리 등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HD, ST, PH, STG (4개사)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권창순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계약/권한관리 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HD, ST, PH, STG (4개사)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29768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83B01"/>
                </a:solidFill>
                <a:latin typeface="맑은 고딕"/>
              </a:rPr>
              <a:t>🚨 핵심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명목상 총 투입 MM이 1.0(100%)을 넘는 것은 물리적으로 불가능 — 계약서상 중복·과다 산정이거나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실제 업무량과 계약 배분이 불일치함을 의미. 즉시 검증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3B01"/>
                </a:solidFill>
                <a:latin typeface="맑은 고딕"/>
              </a:rPr>
              <a:t>SECTION 3 ·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문제점 종합 Impact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00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1. 고부하 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10.2억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8036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7건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600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2. 다중 항목 담당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3317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25.7억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88036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17명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600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3. 다중 담당자 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3317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88036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30건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6304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60020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4. TBD 미배정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3317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3.5억+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88036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148건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6616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0332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5. 단가 급변동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43484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98348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45건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56616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370332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6. 등급별 단가 불일치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43484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전체 영향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498348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3등급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56616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70332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7. 소규모 배분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43484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관리비용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98348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574건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566160"/>
            <a:ext cx="2724912" cy="1965960"/>
          </a:xfrm>
          <a:prstGeom prst="roundRect">
            <a:avLst>
              <a:gd name="adj" fmla="val 8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370332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8. 1MM 초과 배정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443484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4.8억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983480"/>
            <a:ext cx="2404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3건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🔴 높음 4건  ·  🟠 중간 3건  ·  🟡 낮음 1건   —   정량 영향 확인분만 합산 시 최소 44.2억 규모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7C10"/>
                </a:solidFill>
                <a:latin typeface="맑은 고딕"/>
              </a:rPr>
              <a:t>SECTION 4 · 개선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MM 배분 정상화 5단계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0876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526"/>
                </a:solidFill>
                <a:latin typeface="맑은 고딕"/>
              </a:rPr>
              <a:t>기준 수립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08760"/>
            <a:ext cx="6537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</a:rPr>
              <a:t>개인별 단일시스템 상한 0.8MM · 연간 총상한 12MM · 항목별 최소 0.1MM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41448"/>
            <a:ext cx="11155680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441448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532888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526"/>
                </a:solidFill>
                <a:latin typeface="맑은 고딕"/>
              </a:rPr>
              <a:t>이상치 탐지(자동화)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32888"/>
            <a:ext cx="6537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</a:rPr>
              <a:t>0.8MM 초과 자동 플래그 · 다중회사 합산 1MM 초과 탐지 · 소규모 배분 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65576"/>
            <a:ext cx="11155680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465576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2160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557016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526"/>
                </a:solidFill>
                <a:latin typeface="맑은 고딕"/>
              </a:rPr>
              <a:t>업무 재분배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57016"/>
            <a:ext cx="6537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</a:rPr>
              <a:t>고부하 담당자 → 팀내 분산 · 다중항목 담당자 → 핵심 5개 + 나머지 이관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9704"/>
            <a:ext cx="11155680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489704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45736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581144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526"/>
                </a:solidFill>
                <a:latin typeface="맑은 고딕"/>
              </a:rPr>
              <a:t>단가 표준화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581144"/>
            <a:ext cx="6537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</a:rPr>
              <a:t>등급별 단일 단가 체계 · ±10% 밴드 설정 · 예외 사유 문서화 필수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13832"/>
            <a:ext cx="11155680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5513832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6986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605272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526"/>
                </a:solidFill>
                <a:latin typeface="맑은 고딕"/>
              </a:rPr>
              <a:t>모니터링 체계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605272"/>
            <a:ext cx="6537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</a:rPr>
              <a:t>월별 배분 대시보드 · 이상치 자동 알림 · 분기별 정합성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7C10"/>
                </a:solidFill>
                <a:latin typeface="맑은 고딕"/>
              </a:rPr>
              <a:t>SECTION 4 · 개선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등급별 표준 단가 체계 (안)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468880"/>
                <a:gridCol w="3200400"/>
                <a:gridCol w="411480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표준 단가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허용 범위 (±10%)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현재 범위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고급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15,500,000원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14.0 ~ 17.0백만원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10.1 ~ 16.4백만원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중급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12,800,000원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11.5 ~ 14.0백만원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83B01"/>
                          </a:solidFill>
                          <a:latin typeface="맑은 고딕"/>
                        </a:rPr>
                        <a:t>6.4 ~ 40.0백만원 (문제!)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8C00"/>
                          </a:solidFill>
                          <a:latin typeface="맑은 고딕"/>
                        </a:rPr>
                        <a:t>초급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00"/>
                          </a:solidFill>
                          <a:latin typeface="맑은 고딕"/>
                        </a:rPr>
                        <a:t>9,900,000원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00"/>
                          </a:solidFill>
                          <a:latin typeface="맑은 고딕"/>
                        </a:rPr>
                        <a:t>9.0 ~ 11.0백만원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8C00"/>
                          </a:solidFill>
                          <a:latin typeface="맑은 고딕"/>
                        </a:rPr>
                        <a:t>4.8 ~ 14.8백만원 (문제!)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11880"/>
            <a:ext cx="11155680" cy="237744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7C10"/>
                </a:solidFill>
                <a:latin typeface="맑은 고딕"/>
              </a:rPr>
              <a:t>적용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106070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① 범위 초과 시 사유서 필수 (특수기술, 시장단가 등)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② 전년 대비 ±15% 초과 변동 시 별도 승인 필요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③ 신규 계약 시 표준 단가 우선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7C10"/>
                </a:solidFill>
                <a:latin typeface="맑은 고딕"/>
              </a:rPr>
              <a:t>SECTION 4 · 개선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담당자 배정 최적화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3291840"/>
                <a:gridCol w="2926080"/>
              </a:tblGrid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현재 문제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개선 방향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기대 효과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1인 다중시스템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24개 시스템 담당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핵심 5개 + 나머지 이관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집중도↑, 품질↑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1시스템 다중담당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9명이 1개 담당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주담당 1명 + 백업 1명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책임 명확화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고부하 배정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1.0 MM 배정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0.6~0.8 MM로 분산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리스크↓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TBD 미배정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148건 미확정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계약 전 담당자 확정 필수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실행력↑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소규모 배분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574건(0.05MM↓)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유사 업무 통합 → 100건↓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52526"/>
                          </a:solidFill>
                          <a:latin typeface="맑은 고딕"/>
                        </a:rPr>
                        <a:t>관리효율↑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7C10"/>
                </a:solidFill>
                <a:latin typeface="맑은 고딕"/>
              </a:rPr>
              <a:t>SECTION 4 · 개선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계약 정상화 로드맵 (3 Phase)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10512"/>
            <a:ext cx="10515600" cy="381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82496"/>
            <a:ext cx="320040" cy="320040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377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Phase 1 (1개월)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3276600" cy="34747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31720"/>
            <a:ext cx="327660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295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현황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956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TBD 148건 담당자 확정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고부하 7건 재배분 계획 수립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단가 불일치 사유 조사</a:t>
            </a:r>
          </a:p>
        </p:txBody>
      </p:sp>
      <p:sp>
        <p:nvSpPr>
          <p:cNvPr id="13" name="Oval 12"/>
          <p:cNvSpPr/>
          <p:nvPr/>
        </p:nvSpPr>
        <p:spPr>
          <a:xfrm>
            <a:off x="4328160" y="1682496"/>
            <a:ext cx="320040" cy="32004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3840" y="1051560"/>
            <a:ext cx="377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8C00"/>
                </a:solidFill>
                <a:latin typeface="맑은 고딕"/>
              </a:rPr>
              <a:t>Phase 2 (2개월)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160" y="2331720"/>
            <a:ext cx="3276600" cy="34747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8160" y="2331720"/>
            <a:ext cx="3276600" cy="5029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1040" y="2404872"/>
            <a:ext cx="295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구조 개선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1040" y="3017520"/>
            <a:ext cx="2956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다중 항목 담당자 업무 재조정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소규모 배분 통합 (574건→100건 목표)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등급별 표준 단가 적용 시작</a:t>
            </a:r>
          </a:p>
        </p:txBody>
      </p:sp>
      <p:sp>
        <p:nvSpPr>
          <p:cNvPr id="19" name="Oval 18"/>
          <p:cNvSpPr/>
          <p:nvPr/>
        </p:nvSpPr>
        <p:spPr>
          <a:xfrm>
            <a:off x="7833360" y="1682496"/>
            <a:ext cx="320040" cy="320040"/>
          </a:xfrm>
          <a:prstGeom prst="ellipse">
            <a:avLst/>
          </a:prstGeom>
          <a:solidFill>
            <a:srgbClr val="107C1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9040" y="1051560"/>
            <a:ext cx="377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7C10"/>
                </a:solidFill>
                <a:latin typeface="맑은 고딕"/>
              </a:rPr>
              <a:t>Phase 3 (3개월)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3360" y="2331720"/>
            <a:ext cx="3276600" cy="347472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33360" y="2331720"/>
            <a:ext cx="3276600" cy="50292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404872"/>
            <a:ext cx="295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시스템화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240" y="3017520"/>
            <a:ext cx="2956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자동 이상치 탐지 대시보드 구축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배분 기준 위반 시 알림 체계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52526"/>
                </a:solidFill>
                <a:latin typeface="맑은 고딕"/>
              </a:rPr>
              <a:t>• 분기별 정합성 검증 프로세스 정착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7C10"/>
                </a:solidFill>
                <a:latin typeface="맑은 고딕"/>
              </a:rPr>
              <a:t>SECTION 4 · 개선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기대 효과 및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64008" cy="173736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계약 효율성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+30%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7C10"/>
                </a:solidFill>
                <a:latin typeface="맑은 고딕"/>
              </a:rPr>
              <a:t>정상화 로드맵 완료 후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17373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TBD 미배정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148건 → 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78D4"/>
                </a:solidFill>
                <a:latin typeface="맑은 고딕"/>
              </a:rPr>
              <a:t>Phase 1 내 전건 확정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7472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64008" cy="17373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소규모 배분 건수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574건 → 100건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8C00"/>
                </a:solidFill>
                <a:latin typeface="맑은 고딕"/>
              </a:rPr>
              <a:t>유사 업무 통합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74720"/>
            <a:ext cx="64008" cy="1737360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8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등급별 단가 편차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526"/>
                </a:solidFill>
                <a:latin typeface="맑은 고딕"/>
              </a:rPr>
              <a:t>525% → ±10%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83B01"/>
                </a:solidFill>
                <a:latin typeface="맑은 고딕"/>
              </a:rPr>
              <a:t>표준 단가 체계 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7C10"/>
                </a:solidFill>
                <a:latin typeface="맑은 고딕"/>
              </a:rPr>
              <a:t>SECTION 4 · 개선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권장 액션 아이템 (우선순위별)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긴급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554480"/>
            <a:ext cx="9052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TBD 148건 담당자 즉시 확정 (정보보안팀 우선)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1MM 초과 배정 3건 검증 및 정정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등급별 단가 불일치 사유 전수 조사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단기 (1~2개월)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154680"/>
            <a:ext cx="9052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고부하 배정 7건 팀내 재분산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다중 항목 담당자(17명) 업무 재조정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단가 급변동 45건 근거 문서화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중장기 (3개월+)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754880"/>
            <a:ext cx="9052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소규모 배분 574건 통합 (목표 100건)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등급별 표준 단가 체계 시행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• 이상치 자동 탐지 대시보드 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SECTION 5 · 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Top 10 담당자 / 주요 고비용 세부 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56692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  <a:gridCol w="1005840"/>
                <a:gridCol w="822960"/>
                <a:gridCol w="822960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담당자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팀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담당 항목수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총 MM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총 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정혜일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물류 IT팀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24개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0.62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1.0억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조원재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16개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1.37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2.4억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심현호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1.28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1.8억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맹호빈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13개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1.18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2.0억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임만수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아키텍쳐인프라팀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13개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1.6억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41732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세부 항목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관련 지표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marL="76200" marR="76200" marT="25400" marB="25400" anchor="ctr">
                    <a:solidFill>
                      <a:srgbClr val="0078D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EAI (다중담당 9명)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2.30 MM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2.7억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STP CS Admin ×2인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2.00 MM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3.2억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운용 서버 279.5대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1.29 MM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2.1억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에스티팜 QMS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0.95 MM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1.5억</a:t>
                      </a:r>
                    </a:p>
                  </a:txBody>
                  <a:tcPr marL="76200" marR="76200" marT="25400" marB="25400" anchor="ctr">
                    <a:solidFill>
                      <a:srgbClr val="F3F2F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빅데이터포털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1.00 MM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52526"/>
                          </a:solidFill>
                          <a:latin typeface="맑은 고딕"/>
                        </a:rPr>
                        <a:t>1.5억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2519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※ 고비용 세부 항목은 본문에서 언급된 항목 기준이며, 전체 항목 기준 정식 순위는 원본 데이터 재조회가 필요함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SECTION 5 · 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용어 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MM (Man-Month)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8001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1인이 1개월간 100% 투입하는 공수 단위. 1.0MM = 해당월 전체 공수 투입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TBD (To Be Determined)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8001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담당자가 아직 확정되지 않은 배정 상태 (PM/Cl/S 등은 역할 구분 코드)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도입구분(기존/신규)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37560"/>
            <a:ext cx="8001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기존: 2025년 이전부터 유지된 계약 / 신규: 2026년 신규 도입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등급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51960"/>
            <a:ext cx="8001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고급 / 중급 / 초급으로 구분되는 투입 인력의 숙련도·단가 등급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8D4"/>
                </a:solidFill>
                <a:latin typeface="맑은 고딕"/>
              </a:rPr>
              <a:t>단가 편차율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166360"/>
            <a:ext cx="8001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52526"/>
                </a:solidFill>
                <a:latin typeface="맑은 고딕"/>
              </a:rPr>
              <a:t>동일 등급 내 (최대단가－최소단가) ÷ 최소단가 × 100 으로 계산한 격차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맑은 고딕"/>
              </a:rPr>
              <a:t>SECTION 5 · 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2526"/>
                </a:solidFill>
                <a:latin typeface="맑은 고딕"/>
              </a:rPr>
              <a:t>데이터 출처 및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• 원본 데이터: 그룹사 계약 data (Excel), 범위 A3:U1108 (1,106개 행 × 21개 열)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• 주요 컬럼: A(회사명) · E(대분류) · F(도입구분) · G(항목) · I(팀명) · J(담당자) · K(등급) · L(25년MM) · O(25년비용) · P(26년MM) · R(26년단가) · T(26년비용)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52526"/>
                </a:solidFill>
                <a:latin typeface="맑은 고딕"/>
              </a:rPr>
              <a:t>• 분석 기준일: 2026년 계약 확정 데이터 기준, 억원 단위 반올림 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1115568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78D4"/>
                </a:solidFill>
                <a:latin typeface="맑은 고딕"/>
              </a:rP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666666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