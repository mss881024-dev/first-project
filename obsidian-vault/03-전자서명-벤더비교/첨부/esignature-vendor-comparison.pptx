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80">
                <a:solidFill>
                  <a:srgbClr val="5B9CEC"/>
                </a:solidFill>
                <a:latin typeface="Malgun Gothic"/>
              </a:rPr>
              <a:t>CONFIDENTIAL · 임원 보고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502920" cy="44450"/>
          </a:xfrm>
          <a:prstGeom prst="rect">
            <a:avLst/>
          </a:prstGeom>
          <a:solidFill>
            <a:srgbClr val="5B9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전자서명 3rd Party 벤더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272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B7C2D6"/>
                </a:solidFill>
                <a:latin typeface="Malgun Gothic"/>
              </a:rPr>
              <a:t>모두싸인(Modusign) vs 도큐사인(DocuSign)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748099"/>
                </a:solidFill>
                <a:latin typeface="Malgun Gothic"/>
              </a:rPr>
              <a:t>Law.ai SaaS 연동 관점 · 국내 본인인증 · 비용 구조 · 글로벌 범용성 · API 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10561320" cy="9525"/>
          </a:xfrm>
          <a:prstGeom prst="rect">
            <a:avLst/>
          </a:prstGeom>
          <a:solidFill>
            <a:srgbClr val="2A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20">
                <a:solidFill>
                  <a:srgbClr val="748099"/>
                </a:solidFill>
                <a:latin typeface="Malgun Gothic"/>
              </a:rPr>
              <a:t>작성일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362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</a:rPr>
              <a:t>2026-07-02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9893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 spc="120">
                <a:solidFill>
                  <a:srgbClr val="748099"/>
                </a:solidFill>
                <a:latin typeface="Malgun Gothic"/>
              </a:rPr>
              <a:t>대상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623620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Malgun Gothic"/>
              </a:rPr>
              <a:t>그룹 법무관리시스템(Law.ai SaaS) 전자서명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2735" y="59893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48099"/>
                </a:solidFill>
                <a:latin typeface="Malgun Gothic"/>
              </a:rPr>
              <a:t>동아쏘시오홀딩스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48099"/>
                </a:solidFill>
                <a:latin typeface="Malgun Gothic"/>
              </a:rPr>
              <a:t>법무·보안·IT 실무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결론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5440680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54864" cy="226771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1848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60">
                <a:solidFill>
                  <a:srgbClr val="898781"/>
                </a:solidFill>
                <a:latin typeface="Malgun Gothic"/>
              </a:rPr>
              <a:t>국내 본인인증이 핵심인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29384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0B0B0B"/>
                </a:solidFill>
                <a:latin typeface="Malgun Gothic"/>
              </a:rPr>
              <a:t>모두싸인의 관련 기능이 공식 지원 확인됨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15768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통신사 기반 휴대폰 본인인증(SKT/KT/LGU+/알뜰)과 법인 공동인증서를 공식 문서에서 지원 명시. 도큐사인은 동일 기능의 공식 지원 여부가 확인되지 않음.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5440680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417320"/>
            <a:ext cx="54864" cy="226771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161848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60">
                <a:solidFill>
                  <a:srgbClr val="898781"/>
                </a:solidFill>
                <a:latin typeface="Malgun Gothic"/>
              </a:rPr>
              <a:t>해외/글로벌 계약이 많은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1929384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0B0B0B"/>
                </a:solidFill>
                <a:latin typeface="Malgun Gothic"/>
              </a:rPr>
              <a:t>도큐사인의 관련 기능이 공식 지원 확인됨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715768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188개국 대상 전자서명 적법성 가이드, 서명자 인터페이스 43개 언어를 공식 문서에 명시. 모두싸인은 인터페이스 5개 언어만 확인, 국가별 적법성 가이드는 공식 확인 불가.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59352"/>
            <a:ext cx="5440680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59352"/>
            <a:ext cx="54864" cy="2267712"/>
          </a:xfrm>
          <a:prstGeom prst="rect">
            <a:avLst/>
          </a:prstGeom>
          <a:solidFill>
            <a:srgbClr val="C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60">
                <a:solidFill>
                  <a:srgbClr val="898781"/>
                </a:solidFill>
                <a:latin typeface="Malgun Gothic"/>
              </a:rPr>
              <a:t>비용 초과 과금 단가의 명확성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71416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0B0B0B"/>
                </a:solidFill>
                <a:latin typeface="Malgun Gothic"/>
              </a:rPr>
              <a:t>모두싸인은 단가 공개, 도큐사인은 비공개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25780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모두싸인은 초과 건당 1,900원을 명시. 도큐사인은 Pay-As-You-Go 방식만 확인되고 구체 단가는 공식 확인 불가.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59352"/>
            <a:ext cx="5440680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3959352"/>
            <a:ext cx="54864" cy="226771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416052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60">
                <a:solidFill>
                  <a:srgbClr val="898781"/>
                </a:solidFill>
                <a:latin typeface="Malgun Gothic"/>
              </a:rPr>
              <a:t>API 연동 시 별도 계약 전제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4471416"/>
            <a:ext cx="4892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 i="0">
                <a:solidFill>
                  <a:srgbClr val="0B0B0B"/>
                </a:solidFill>
                <a:latin typeface="Malgun Gothic"/>
              </a:rPr>
              <a:t>도큐사인은 별도 Developer 과금 체계 존재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525780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도큐사인 Developer Plans는 API 기능·Envelope 볼륨 기준 별도 과금. 모두싸인은 API 연동이 Team Pro 요금제에 포함되는 구조.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※ "더 좋다"가 아닌 "공식 확인된 지원 여부"만을 중립적으로 기술함. 세부 근거·출처는 슬라이드 3~6 참조.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국내 본인인증 지원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3. 국내 본인인증 지원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11109960" cy="420624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17320"/>
            <a:ext cx="31181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인증 수단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41732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모두싸인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41732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도큐사인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18894"/>
            <a:ext cx="1110996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837944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카카오 인증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202082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202082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86787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96312"/>
            <a:ext cx="11109960" cy="6583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496312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네이버 인증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2679192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679192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145155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154680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토스 인증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333756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333756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0352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813048"/>
            <a:ext cx="11109960" cy="6583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813048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PASS / 휴대폰 본인인증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(통신사 명의 대조)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38344" y="3995928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388620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4215384"/>
            <a:ext cx="3749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전화 OTP 인증은 별도 존재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461891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471416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법인 공동인증서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38344" y="4544568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4873752"/>
            <a:ext cx="3749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PC 환경 한정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465429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120259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129784"/>
            <a:ext cx="11109960" cy="6583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5129784"/>
            <a:ext cx="3118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이메일 / 휴대폰 기반 인증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38344" y="531266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0264" y="531266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778627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5843016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· 모두싸인의 카카오톡은 서명 요청 "알림 전송 채널"로만 사용되며, 카카오 계정 기반 인증수단은 공식 지원 문서 목록에 없음.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· 도큐사인 Phone Authentication은 전화·문자 OTP 방식으로, 통신사 명의를 대조하는 한국형 PASS/휴대폰 본인인증과는 방식이 다름.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[공식1차] support.modusign.co.kr(추가 인증 수단 설정 방법) · modusign.co.kr/identify  [공식1차] developers.docusign.com(Recipient Authentication) · docusign.com/products/identify/phone-authentication · support.docusign.com(ID Verification 대상국)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비용 구조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4. 비용 구조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109960" cy="38404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71600"/>
            <a:ext cx="2157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37160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모두싸인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371600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도큐사인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36598"/>
            <a:ext cx="1110996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55648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개인용 요금제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1755648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Personal · 월 결제만 가능 · 월 5건 제공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구독료는 공식 확인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755648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Personal · 월 $15(연 결제 시 월 $10)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월 5 Envelope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13051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322576"/>
            <a:ext cx="11109960" cy="56692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322576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팀/조직용 요금제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322576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Team: 월 39,900원 · 최대 3인 · 월 30건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Team Pro: 최대 10인 · 월 30건, 구독료 공식 확인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322576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Standard: 월 $45(연 $25) · 연 100건/user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Business Pro: 월 $65(연 $40) · 연 100건/user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79979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88950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좌석당 과금 여부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29169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3246120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인원 상한만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4524" y="29169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3246120"/>
            <a:ext cx="4160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user 단위 과금 명시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446907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456432"/>
            <a:ext cx="11109960" cy="56692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456432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서명 건수 제한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(Envelope/요청건)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3456432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Personal 월 5건 · Team·Team Pro 월 30건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잔여 건수 이월 없이 소멸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3456432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연간 연 100건/user · 월간 월 10건/user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013835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023360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초과 과금 방식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402336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건당 1,900원 추가 충전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8" y="4023360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Pay-As-You-Go(건당 정액) · 구체 단가 공식 확인 불가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58076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590288"/>
            <a:ext cx="11109960" cy="56692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590288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Enterprise 견적 방식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4590288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연 예상 이용량 1,000건 이상 시 별도 상담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8" y="4590288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Advanced Solutions/IAM 등 별도 영업 상담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산정 기준 공식 확인 불가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147691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5157216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다이렉트 구매 vs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영업 상담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5157216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Personal/Team/Team Pro 온라인 자체 결제 가능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Enterprise급은 상담 필요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8" y="5157216"/>
            <a:ext cx="4160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Personal/Standard/Business Pro 온라인 자체 결제 가능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Advanced Solutions/IAM 등은 영업 상담 필요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714619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76986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898781"/>
                </a:solidFill>
                <a:latin typeface="Malgun Gothic"/>
              </a:rPr>
              <a:t>· 모두싸인은 원화(KRW), 도큐사인은 달러(USD) 기준으로 통화 단위가 다르며 직접 비교 시 환산 필요.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898781"/>
                </a:solidFill>
                <a:latin typeface="Malgun Gothic"/>
              </a:rPr>
              <a:t>· 도큐사인 표준 요금제 수치는 공식 페이지 직접 접속이 차단되어 검색 색인 및 3차 자료로 교차 확인한 값으로, 확정 전 공식 페이지 재확인 필요.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[공식1차] modusign.co.kr/pricing · support.modusign.co.kr(요금제 안내)  [공식1차] ecom.docusign.com/plans-and-pricing(접속 차단, 색인 기준 교차확인) · support.docusign.com(Plans and Limits)  [독립3rd] vendr.com  [경쟁사] eversign.com, pandadoc.com(가격 왜곡 가능성 있음)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범용성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5. 범용성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109960" cy="38404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71600"/>
            <a:ext cx="2157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37160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모두싸인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371600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도큐사인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36598"/>
            <a:ext cx="1110996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55648"/>
            <a:ext cx="215798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지원 언어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1755648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인터페이스 기준 5개 언어(한/영/중/일/베)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문서 내용 자동번역 아님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755648"/>
            <a:ext cx="4160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서명자 인터페이스 43개 언어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발송자 인터페이스 13개 언어(한국어 포함)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95931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505456"/>
            <a:ext cx="11109960" cy="74980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505456"/>
            <a:ext cx="215798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지원 국가/지역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2624328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953512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글로벌 대상 국가 목록 미확인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2505456"/>
            <a:ext cx="4160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적법성 가이드 기준 188개국에서 이용 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45739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255264"/>
            <a:ext cx="215798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해외 계약 시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약관/책임 소재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348386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3255264"/>
            <a:ext cx="4160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EU eIDAS·전자서명 기술표준 준수 명시(EU 한정)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국가별 적법성은 현지 법무법인 분석 기반 가이드 제공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95547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05072"/>
            <a:ext cx="11109960" cy="74980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005072"/>
            <a:ext cx="215798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글로벌 고객사/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채택 범위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233672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64524" y="412394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8" y="4453128"/>
            <a:ext cx="4160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검증 가능한 1차 통계 미확인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745355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754880"/>
            <a:ext cx="215798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국내 사용성 vs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해외 사용성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475488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국내: 휴대폰 본인인증·법인 공동인증서 지원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해외: 인터페이스 다국어(5개 언어)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8" y="4754880"/>
            <a:ext cx="4160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국내: 카카오·네이버·토스 지원 공식 확인 불가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해외: Phone/ID Verification 다수 국가 인프라 명시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49516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[공식1차] blog.modusign.co.kr(다국어 지원)  [공식1차] support.docusign.com(지원 언어, 적법성 가이드 188개국) · docusign.com/products/identify/phone-authentication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API / 연동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6. API/연동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109960" cy="38404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71600"/>
            <a:ext cx="2157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37160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모두싸인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371600"/>
            <a:ext cx="4343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도큐사인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36598"/>
            <a:ext cx="1110996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55648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API 연동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1755648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REST API · Basic 인증 스킴 · Webhook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75564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eSignature 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6908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11109960" cy="82296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578608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별도 개발 필요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578608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52514E"/>
                </a:solidFill>
                <a:latin typeface="Malgun Gothic"/>
              </a:rPr>
              <a:t>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57860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52514E"/>
                </a:solidFill>
                <a:latin typeface="Malgun Gothic"/>
              </a:rPr>
              <a:t>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9204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401568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SaaS 내장형 연동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3401568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임베디드 서명요청/문서열람 링크 생성 기능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40156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PowerForms 등 코드 최소화 연동 옵션 존재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세부는 개발자 문서 직접 확인 권고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21500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224528"/>
            <a:ext cx="11109960" cy="82296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4224528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API 전용 과금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체계 유무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4224528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Team Pro 이상 요금제에 포함되는 구조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별도 API 전용 단가 체계는 공식 확인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422452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존재 · Developer Plans는 API 기능·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Envelope 볼륨 기준 별도 과금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03796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047488"/>
            <a:ext cx="21579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eSignature 요금제와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분리된 API 라이선스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5047488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미분리 · 가입 시 'Team Pro + API 연동' 옵션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8" y="504748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분리 존재 · Production 전환 시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898781"/>
                </a:solidFill>
                <a:latin typeface="Malgun Gothic"/>
              </a:rPr>
              <a:t>Developer Plan 별도 계약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860923"/>
            <a:ext cx="1110996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925312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· 두 벤더 모두 API 연동에는 자체 개발이 필요하며, 노코드 완결형 연동은 확인되지 않음.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[공식1차] developers.modusign.co.kr(API 소개, API KEY 발급)  [공식1차] developers.docusign.com(eSignature REST API 101) · ecom.docusign.com/plans-and-pricing/developer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7. 법무팀 관점 추천 문구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11057839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642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A78D6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664208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0B0B"/>
                </a:solidFill>
                <a:latin typeface="Malgun Gothic"/>
              </a:rPr>
              <a:t>국내 서명자 UX·본인인증이 최우선인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048256"/>
            <a:ext cx="9777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algun Gothic"/>
              </a:rPr>
              <a:t>국내 서명자 UX 및 국내 본인인증(휴대폰 통신사 명의인증, 법인 공동인증서)이 최우선이면, 해당 기능이 공식 지원 문서에 확인된 모두싸인이 검토 대상에 포함됨.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99232"/>
            <a:ext cx="11057839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99232"/>
            <a:ext cx="54864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1821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BAF7A"/>
                </a:solidFill>
                <a:latin typeface="Malgun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0B0B"/>
                </a:solidFill>
                <a:latin typeface="Malgun Gothic"/>
              </a:rPr>
              <a:t>해외 거래처·글로벌 범용성이 최우선인 경우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566160"/>
            <a:ext cx="9777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algun Gothic"/>
              </a:rPr>
              <a:t>해외 거래처·글로벌 범용성(서명자 인터페이스 43개 언어, 188개국 적법성 가이드)이 최우선이면, 해당 기능이 공식 문서에 확인된 도큐사인이 검토 대상에 포함됨.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17136"/>
            <a:ext cx="11057839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517136"/>
            <a:ext cx="54864" cy="13716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70001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A3AA7"/>
                </a:solidFill>
                <a:latin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700016"/>
            <a:ext cx="9777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B0B0B"/>
                </a:solidFill>
                <a:latin typeface="Malgun Gothic"/>
              </a:rPr>
              <a:t>법무관리시스템(Law.ai SaaS) 연동 관점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5084064"/>
            <a:ext cx="9777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algun Gothic"/>
              </a:rPr>
              <a:t>도큐사인은 eSignature 요금제와 분리된 별도 Developer/API 과금 체계를 운영하여 연동 시 별도 계약·예산 검토가 필요하며, 모두싸인은 API 연동이 Team Pro 요금제에 포함되는 구조로 확인됨.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※ 추천 문구는 사실의 조합으로만 구성하며 주관적 우열 표현을 배제함. 출처는 슬라이드 3~6과 동일.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확인 필요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슬라이드 8. 공식 확인 불가 항목 모음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71600"/>
            <a:ext cx="11201400" cy="36576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71600"/>
            <a:ext cx="16093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371600"/>
            <a:ext cx="6720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137160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18310"/>
            <a:ext cx="1120140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737360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본인인증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37360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카카오/네이버/토스 인증 지원 여부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1737360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도큐사인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057019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066544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066544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본인인증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2066544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법인 공동인증서 지원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066544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도큐사인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386203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395728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비용 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395728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개인용(Personal) 요금제 정확한 구독료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2395728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715387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724912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724912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비용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2724912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Team Pro 요금제 정확한 구독료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72491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044571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054096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비용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3054096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좌석당 과금 단가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3054096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37375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383280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3383280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비용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3383280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초과 Envelope 과금 단가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3383280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도큐사인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02939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3712464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비용 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3712464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Advanced Solutions/IAM 등 Enterprise 견적 산정 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3712464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도큐사인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32123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041648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4041648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범용성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728" y="4041648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서비스 대상 국가/지역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568" y="4041648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61307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4370832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범용성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5728" y="4370832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해외 계약 시 약관/책임 소재(EU 외 지역)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4370832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690491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4700016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4700016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범용성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8" y="4700016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글로벌 고객사/채택 범위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6568" y="4700016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모두싸인, 도큐사인 공통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01967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5029200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API/연동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95728" y="5029200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API 전용 과금 단가 체계 상세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6568" y="5029200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모두싸인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348859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358384"/>
            <a:ext cx="11201400" cy="329184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" y="5358384"/>
            <a:ext cx="16093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Malgun Gothic"/>
              </a:rPr>
              <a:t>API/연동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95728" y="5358384"/>
            <a:ext cx="6537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SaaS 내장형(코드리스) 연동 기능 상세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16568" y="5358384"/>
            <a:ext cx="2560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도큐사인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678043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본 목록은 슬라이드 2~6에서 "공식 확인 불가"로 표기된 항목을 취합한 것으로, 개별 출처는 해당 슬라이드 참조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54864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84048"/>
            <a:ext cx="969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60">
                <a:solidFill>
                  <a:srgbClr val="1F5FA8"/>
                </a:solidFill>
                <a:latin typeface="Malgun Gothic"/>
              </a:rPr>
              <a:t>1-PAGE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B0B0B"/>
                </a:solidFill>
                <a:latin typeface="Malgun Gothic"/>
              </a:rPr>
              <a:t>1페이지 요약 대조표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98781"/>
                </a:solidFill>
                <a:latin typeface="Malgun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713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algun Gothic"/>
              </a:rPr>
              <a:t>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11057839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25880"/>
            <a:ext cx="11201400" cy="36576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25880"/>
            <a:ext cx="247802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비교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1325880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모두싸인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1325880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Malgun Gothic"/>
              </a:rPr>
              <a:t>도큐사인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72590"/>
            <a:ext cx="11201400" cy="190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16916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국내 본인인증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(카카오/네이버/토스)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1144" y="17739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7739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393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148840"/>
            <a:ext cx="11201400" cy="45720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1488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PASS/휴대폰 본인인증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(통신사 명의 대조)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81144" y="22311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78824" y="22311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B53232"/>
                </a:solidFill>
                <a:latin typeface="Malgun Gothic"/>
              </a:rPr>
              <a:t>● </a:t>
            </a:r>
            <a:r>
              <a:rPr sz="1100" b="1">
                <a:solidFill>
                  <a:srgbClr val="B53232"/>
                </a:solidFill>
                <a:latin typeface="Malgun Gothic"/>
              </a:rPr>
              <a:t>미지원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965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6060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법인 공동인증서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1144" y="26883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26883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537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63240"/>
            <a:ext cx="11201400" cy="45720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0632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표준 요금제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4408" y="30632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정액 구독(월 39,900원~, KRW)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00" b="0" i="0">
                <a:solidFill>
                  <a:srgbClr val="898781"/>
                </a:solidFill>
                <a:latin typeface="Malgun Gothic"/>
              </a:rPr>
              <a:t>+ 초과 건당 1,900원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30632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정액 구독(월 $15~$65, USD)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00" b="0" i="0">
                <a:solidFill>
                  <a:srgbClr val="898781"/>
                </a:solidFill>
                <a:latin typeface="Malgun Gothic"/>
              </a:rPr>
              <a:t>+ 초과 Pay-As-You-Go(단가 비공개)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5109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5204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좌석당 과금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1144" y="36027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78824" y="36027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681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977640"/>
            <a:ext cx="11201400" cy="45720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39776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Enterprise 견적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39776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영업 상담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39776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100" b="0" i="0">
                <a:solidFill>
                  <a:srgbClr val="52514E"/>
                </a:solidFill>
                <a:latin typeface="Malgun Gothic"/>
              </a:rPr>
              <a:t>영업 상담 필요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4253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4348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지원 언어(인터페이스)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4408" y="44348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5개 언어(한/영/중/일/베)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44348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서명자 43개 / 발송자 13개 언어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8825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892040"/>
            <a:ext cx="11201400" cy="45720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48920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서비스 적법성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공식 커버리지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81144" y="49743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62088" y="48920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52514E"/>
                </a:solidFill>
                <a:latin typeface="Malgun Gothic"/>
              </a:rPr>
              <a:t>188개국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3397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53492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API 연동 방식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4408" y="53492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REST API + Webhook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00" b="0" i="0">
                <a:solidFill>
                  <a:srgbClr val="898781"/>
                </a:solidFill>
                <a:latin typeface="Malgun Gothic"/>
              </a:rPr>
              <a:t>Team Pro 요금제 포함형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088" y="5349240"/>
            <a:ext cx="4114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50" b="0" i="0">
                <a:solidFill>
                  <a:srgbClr val="52514E"/>
                </a:solidFill>
                <a:latin typeface="Malgun Gothic"/>
              </a:rPr>
              <a:t>REST API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000" b="0" i="0">
                <a:solidFill>
                  <a:srgbClr val="898781"/>
                </a:solidFill>
                <a:latin typeface="Malgun Gothic"/>
              </a:rPr>
              <a:t>eSignature 요금제와 분리된 Developer Plan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7969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6928" y="5806440"/>
            <a:ext cx="11201400" cy="457200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5806440"/>
            <a:ext cx="2478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Malgun Gothic"/>
              </a:rPr>
              <a:t>API 전용 별도 과금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81144" y="58887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6B6A64"/>
                </a:solidFill>
                <a:latin typeface="Malgun Gothic"/>
              </a:rPr>
              <a:t>? </a:t>
            </a:r>
            <a:r>
              <a:rPr sz="1100" b="1">
                <a:solidFill>
                  <a:srgbClr val="6B6A64"/>
                </a:solidFill>
                <a:latin typeface="Malgun Gothic"/>
              </a:rPr>
              <a:t>공식 확인 불가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8824" y="5888736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E3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A7D0A"/>
                </a:solidFill>
                <a:latin typeface="Malgun Gothic"/>
              </a:rPr>
              <a:t>● </a:t>
            </a:r>
            <a:r>
              <a:rPr sz="1100" b="1">
                <a:solidFill>
                  <a:srgbClr val="0A7D0A"/>
                </a:solidFill>
                <a:latin typeface="Malgun Gothic"/>
              </a:rPr>
              <a:t>지원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6254115"/>
            <a:ext cx="1120140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45566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898781"/>
                </a:solidFill>
                <a:latin typeface="Malgun Gothic"/>
              </a:rPr>
              <a:t>출처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" y="6455664"/>
            <a:ext cx="10554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algun Gothic"/>
              </a:rPr>
              <a:t>출처는 슬라이드 2~6과 동일. 통화 단위(KRW/USD)가 상이하여 직접 환산 비교 시 주의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