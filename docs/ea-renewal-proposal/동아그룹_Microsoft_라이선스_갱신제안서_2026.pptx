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9669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MICROSOFT LICENSE RENEWAL  ·  EA / SCE / COPILOT &amp;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Microsoft 라이선스 갱신 제안서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8229600" cy="9525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계약기간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2024. 03. 31 ~ 2027. 04. 01  (3년 차 갱신)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 구성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EA(M365 E3) · SCE(서버) · 기타 라이선스(Copilot 등)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대상 법인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동아쏘시오홀딩스㈜ · 동아에스티㈜ · 동아제약㈜ · 에스티젠바이오㈜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금액 기준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부가세(VAT) 별도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8A93A3"/>
                </a:solidFill>
                <a:latin typeface="맑은 고딕"/>
                <a:ea typeface="맑은 고딕"/>
              </a:rPr>
              <a:t>2026년 7월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A4A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구조 및 갱신 원칙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주요 4사 총계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EA 라이선스 요약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SCE 라이선스 요약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기타 라이선스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동아쏘시오홀딩스㈜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동아에스티㈜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동아제약㈜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에스티젠바이오㈜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01  |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26Y 총 계약 1,317백만 원(+3.9%) — EA 증가분이 기타 라이선스 절감으로 상쇄됩니다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총 계약 금액 (VAT 별도)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1,316,794,600원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1,267,881,200원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7298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E86C1A"/>
                </a:solidFill>
                <a:latin typeface="맑은 고딕"/>
                <a:ea typeface="맑은 고딕"/>
              </a:rPr>
              <a:t>+3.9%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순증 48,913,400원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7258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기타 라이선스 최적화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-88%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Copilot 조정 · Easy Tree 종료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4436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576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전체 총계 (단위: 원, VAT 별도)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3154680"/>
          <a:ext cx="57607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786"/>
                <a:gridCol w="1464589"/>
                <a:gridCol w="1464589"/>
                <a:gridCol w="8787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라이선스 (M365 E3)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라이선스 (서버)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3154680"/>
            <a:ext cx="576072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20440"/>
            <a:ext cx="576072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61772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880360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핵심 메시지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0040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그대로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Renewal과 SCE 서버 라이선스 전 품목이 4개사 모두 전년 금액 동결 — 단가 인상 요인 0원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879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증가분 = 100% True-up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증가액 111,676,600원은 전액 사용자 244EA 순증 정산분 (인상이 아닌 사용 확대)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175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5175504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최적화로 증가 상쇄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Copilot 실사용 조정·Easy Tree 종료로 62,760,600원이 절감되어 총 증가율은 +3.9%입니다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02  |  CONTRACT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동결·정산·최적화 — 세 갈래 원칙으로 구성됩니다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EA — M365 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전사 사용자 대상 볼륨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Renewal(기존 인원) + True-up(연중 증가분 연 1회 정산)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Renewal 4사 전액 동결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SCE — Server &amp;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서버·개발 인프라 3년 약정 Enrollment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SQL·Windows Server Core, Visual Studio, MS Unified Support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5개 품목 × 4사 전 품목 동결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Copilot · Teams Pro · Easy Tree 등 부가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실사용 기준으로 수량을 매년 재조정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Copilot 축소, Easy Tree 종료 → -88%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금회 갱신 3원칙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단가 전면 동결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Renewal·SCE 서버 라이선스 모두 전년 계약 조건 그대로 유지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증가분만 정산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비용 변동은 True-up(사용 인원 순증)에만 연동 — 선구매·과잉 구매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실사용 최적화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사용률이 낮은 부가 라이선스는 축소·종료해 총소유비용 절감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03  |  GROUP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합계는 +3.9%이며, 회사별 증감률은 -39.8%~+33.7%로 상이합니다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5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회사별 전체계 — EA+SCE+기타, 단수 조정 반영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7485"/>
                <a:gridCol w="2262147"/>
                <a:gridCol w="2262147"/>
                <a:gridCol w="2129079"/>
                <a:gridCol w="133067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70,779,400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42,631,000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-28,148,400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-39.8%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650,000,000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677,940,000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+4.3%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385,707,200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380,481,000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-5,226,200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-1.4%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161,394,600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215,742,600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+54,348,000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+33.7%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읽는 법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증가는 사업 확장 2개사(에스티젠바이오·동아에스티)의 EA True-up에서만 발생하고, 동아쏘시오홀딩스·동아제약은 Copilot 조정과 Easy Tree 종료로 총비용이 오히려 감소합니다. 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SCE(서버)와 EA Renewal(기존 인원)은 4사 모두 동결로, 그룹 전체 증가율은 +3.9%에 그칩니다.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04  |  EA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EA +12%는 사용자 244EA 증가의 결과이며, 단가 인상분은 0원입니다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— M365 E3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939828"/>
                <a:gridCol w="1939828"/>
                <a:gridCol w="1818589"/>
                <a:gridCol w="1091153"/>
                <a:gridCol w="157611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수량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1,249 → 1,341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687 → 709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300 → 430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+244EA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21992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609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38728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Renewal (기존 인원)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전액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기존 라이선스 비용 부담 변동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7298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+244EA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7258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4476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증가분의 성격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사용 확대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단가 인상이 아닌 사업 확장 반영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4436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05  |  SCE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SCE 서버 라이선스는 5개 품목 × 4사 전체가 전년 동결입니다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— 25Y·26Y 동일 금액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1903174"/>
                <a:gridCol w="1903174"/>
                <a:gridCol w="1903174"/>
                <a:gridCol w="190317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동아쏘시오홀딩스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동아에스티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동아제약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에스티젠바이오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6712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5117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3522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1927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8736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SCE 4사 합계 (25Y = 26Y)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262,521,102원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전 품목 증감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증감 없음 사유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서버 수량 변동 없음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4사 서버·인프라 규모가 늘지 않아 단가·수량 모두 동일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7" y="493776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06  |  OTHER LICENSES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-88% — Copilot 실사용 조정과 Easy Tree 종료로 62.8백만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8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— Copilot · Teams Pro · Easy Tree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978"/>
                <a:gridCol w="2006719"/>
                <a:gridCol w="1755879"/>
                <a:gridCol w="1755879"/>
                <a:gridCol w="1128779"/>
                <a:gridCol w="18812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갱신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유지보수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 → 9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갱신 유지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 → 6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 → 0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4884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4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연간 절감 효과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-62,760,600원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71,164,800 → 26Y 8,404,200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Copilot 운영 원칙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실사용 기준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재산정, 쏘시오는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7258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4476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절감분의 활용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56% 상쇄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True-up 증가분 대비 기타 라이선스 절감액 비중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14436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07  |  COMPANY DETAIL — 동아쏘시오홀딩스㈜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동아쏘시오홀딩스 -39.8% — Copilot·Easy Tree 종료로 연 28,148,400원이 감소합니다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9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42,631,000원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70,779,400원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-39.8%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비용 절감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EA 수량 변동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EA·SCE 전 항목 동결에 더해 Copilot 갱신 종료·Easy Tree 유지보수 종료로 연 28,148,400원이 절감됩니다. ※ 전체계는 단수 조정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28,148,400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08  |  COMPANY DETAIL — 동아에스티㈜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동아에스티 +4.3% — True-up 92EA 증가분이 Copilot 실사용 조정으로 상당 부분 상쇄됩니다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677,940,000원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650,000,000원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+4.3%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1,249EA → 1,341EA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44,990,400원(True-up 92EA)이 Copilot 조정 절감액 -17,047,800원(42→9 Copy)으로 상당 부분 상쇄되어 총 증가율은 +4.3%입니다. ※ 전체계는 단수 조정(-4,860원)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22,352,400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5,304,600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09  |  COMPANY DETAIL — 동아제약㈜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동아제약 -1.4% — EA 증가에도 Copilot 최적화로 총비용이 감소합니다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380,481,000원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385,707,200원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-1.4%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총비용 감소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687EA → 709EA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7,172,200원(True-up 22EA)보다 Copilot 조정 절감액 -12,398,400원(30→6 Copy)이 커서, 총비용은 전년보다 5,226,200원 감소합니다.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10  |  COMPANY DETAIL — 에스티젠바이오㈜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에스티젠바이오 +33.7% — 증가분은 전액 True-up 130EA(사용자 순증)에서 발생했습니다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215,742,600원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161,394,600원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+33.7%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대폭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300EA → 430EA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증가액 59,514,000원은 전액 True-up 130EA의 정산분으로 바이오 사업 확장에 따른 인력 확충을 반영하며, Copilot 종료(-5,166,000원)로 부가 비용은 정리했습니다.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11  |  GROWTH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순증 +48.9백만 원 = True-up +111.7 − 최적화 절감 62.8 — 단가 인상은 없습니다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증가 요인 분해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9115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532"/>
                <a:gridCol w="2182307"/>
                <a:gridCol w="2182307"/>
                <a:gridCol w="2182307"/>
                <a:gridCol w="141208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True-up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사용자 +244EA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-62,760,600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실사용 최적화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3736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2140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0545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735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4164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2569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증감 구성 요소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+111,676,600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 (+244EA)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Copilot 조정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-47,010,600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 + 쏘시오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7963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6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Easy Tree 종료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-15,750,000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유지보수 계약 종료 (쏘시오홀딩스)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6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049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순 증감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+48,913,400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전년 대비 +3.9%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729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12  |  TERMS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계약 조건 요약 및 진행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계약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53949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38963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2024. 03. 31 ~ 2027. 04. 01  (3년 차 갱신)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 구성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EA(M365 E3) + SCE(서버) + 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단가 조건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Renewal·SCE 전 품목 전년 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1,316,794,600원 (4사 합계, 단수 조정 반영)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539496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03704"/>
            <a:ext cx="539496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24328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44952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65576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06824"/>
            <a:ext cx="539496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4630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진행 일정 (제안)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2880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359152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48716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487168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017520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45536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3년 차(26Y) 갱신 물량 확정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75888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03904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03904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확정분 반영 및 연중 True-up 관리 지원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34256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지원 사항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계약 기간 중 라이선스 컴플라이언스 점검, True-up 수량 관리, Copilot 등 부가 라이선스의 실사용 모니터링, SecureON MS Unified Support 기반 기술 지원 및 전담 담당자를 통한 구매 문의 대응을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081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B2A4A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8961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30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동결로 지키고, 쓰지 않는 것은 덜어내고, 성장에 필요한 만큼만 더하는 갱신을 제안드립니다.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동아그룹 4개사의 안정적인 Microsoft 업무·서버 환경과 사업 확장을 계속 지원하겠습니다.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후 수량 확정을 요청드리며, 2026년 3월 31일 계약 발효를 목표로 진행하겠습니다.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