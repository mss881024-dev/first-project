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457200"/>
            <a:ext cx="3200400" cy="7772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28016" cy="128016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9669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3A3"/>
                </a:solidFill>
                <a:latin typeface="맑은 고딕"/>
                <a:ea typeface="맑은 고딕"/>
              </a:rPr>
              <a:t>MICROSOFT LICENSE RENEWAL  ·  EA / SCE / COPILOT &amp;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B2A4A"/>
                </a:solidFill>
                <a:latin typeface="맑은 고딕"/>
                <a:ea typeface="맑은 고딕"/>
              </a:rPr>
              <a:t>동아그룹 주요 4개사</a:t>
            </a:r>
          </a:p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1B2A4A"/>
                </a:solidFill>
                <a:latin typeface="맑은 고딕"/>
                <a:ea typeface="맑은 고딕"/>
              </a:rPr>
              <a:t>Microsoft 라이선스 갱신 제안서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8229600" cy="9525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계약기간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2026. 03. 31 ~ 2028. 04. 01  (3년 차 갱신)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계약 구성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EA(M365 E3) · SCE(서버) · 기타 라이선스(Copilot 등)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대상 법인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동아쏘시오홀딩스㈜ · 동아에스티㈜ · 동아제약㈜ · 에스티젠바이오㈜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금액 기준 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부가세(VAT) 별도</a:t>
            </a:r>
          </a:p>
          <a:p>
            <a:pPr algn="l">
              <a:spcAft>
                <a:spcPts val="900"/>
              </a:spcAft>
            </a:pPr>
            <a:r>
              <a:rPr sz="1050" b="0" i="0">
                <a:solidFill>
                  <a:srgbClr val="8A93A3"/>
                </a:solidFill>
                <a:latin typeface="맑은 고딕"/>
                <a:ea typeface="맑은 고딕"/>
              </a:rPr>
              <a:t>2026년 7월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A4A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제안 개요 (Executive Summary)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5000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계약 구조 및 갱신 원칙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6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주요 4사 총계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962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49624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EA 라이선스 요약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16552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94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9943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SCE 라이선스 요약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492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기타 라이선스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1616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002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동아쏘시오홀딩스㈜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6712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35000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350008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동아에스티㈜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16936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9981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99816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동아제약㈜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666744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962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849624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회사별 상세 — 에스티젠바이오㈜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416552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5994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59943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증감 요인 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166360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3492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6C1A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53492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2A4A"/>
                </a:solidFill>
                <a:latin typeface="맑은 고딕"/>
                <a:ea typeface="맑은 고딕"/>
              </a:rPr>
              <a:t>계약 조건 및 향후 일정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916168"/>
            <a:ext cx="521208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01  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26Y 총 계약 1,317백만 원(+3.9%) — 성장 비용을 라이선스 최적화로 상쇄했습니다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총 계약 금액 (VAT 별도)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1,316,794,600원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1,267,881,200원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E86C1A"/>
                </a:solidFill>
                <a:latin typeface="맑은 고딕"/>
                <a:ea typeface="맑은 고딕"/>
              </a:rPr>
              <a:t>+3.9%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순증 48,913,400원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7258" y="1508760"/>
            <a:ext cx="9525" cy="9601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4476" y="1463040"/>
            <a:ext cx="327141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기타 라이선스 최적화</a:t>
            </a:r>
          </a:p>
          <a:p>
            <a:pPr algn="l">
              <a:spcAft>
                <a:spcPts val="500"/>
              </a:spcAft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-88%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Copilot 조정 · Easy Tree 종료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4436" y="1508760"/>
            <a:ext cx="9525" cy="9601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760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전체 총계 (단위: 원, VAT 별도)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154680"/>
          <a:ext cx="57607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786"/>
                <a:gridCol w="1464589"/>
                <a:gridCol w="1464589"/>
                <a:gridCol w="87875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라이선스 (M365 E3)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SCE 라이선스 (서버)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기타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71,164,800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8,404,200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-88%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단수 조정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-2,302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-4,902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총 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1,267,881,200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1,316,794,600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+3.9%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3154680"/>
            <a:ext cx="576072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5760720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576072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576072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617720"/>
            <a:ext cx="576072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576072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49240"/>
            <a:ext cx="576072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88036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핵심 메시지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004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20040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기존 비용은 그대로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EA Renewal과 SCE 서버 라이선스 전 품목이 4개사 모두 전년 금액 동결 — 단가 인상 요인 0원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879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18795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증가분 = 100% True-up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EA 증가액 111,676,600원은 전액 사용자 244EA 순증 정산분 (인상이 아닌 사용 확대)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755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17550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최적화로 증가 상쇄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Copilot 실사용 조정·Easy Tree 종료로 62,760,600원 절감 → 총 증가율을 +3.9%로 방어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02  |  CONTRACT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동결·정산·최적화 — 세 갈래 원칙으로 총소유비용을 관리합니다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3520440" cy="2331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38100" cy="23317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EA — M365 E3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전사 사용자 대상 볼륨 라이선스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Renewal(기존 인원) + True-up(연중 증가분 연 1회 정산)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금회: Renewal 4사 전액 동결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3520440" cy="2331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38100" cy="23317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SCE — Server &amp;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서버·개발 인프라 3년 약정 Enrollment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SQL·Windows Server Core, Visual Studio, MS Unified Support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금회: 5개 품목 × 4사 전 품목 동결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520440" cy="23317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38100" cy="23317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Copilot · Teams Pro · Easy Tree 등 부가 라이선스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실사용 기준으로 수량을 매년 재조정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·  금회: Copilot 축소, Easy Tree 종료 → -88%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금회 갱신 3원칙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262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단가 전면 동결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EA Renewal·SCE 서버 라이선스 모두 전년 계약 조건 그대로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5262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증가분만 정산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비용 변동은 True-up(사용 인원 순증)에만 연동 — 선구매·과잉 구매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526280"/>
            <a:ext cx="9525" cy="11887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5262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6C1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5262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실사용 최적화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3A4356"/>
                </a:solidFill>
                <a:latin typeface="맑은 고딕"/>
                <a:ea typeface="맑은 고딕"/>
              </a:rPr>
              <a:t>사용률이 낮은 부가 라이선스는 축소·종료해 총소유비용 절감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4526280"/>
            <a:ext cx="9525" cy="118872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03  |  GROUP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4사 합계 +3.9% — 사용자 증가(에스티젠·에스티)와 비용 절감(쏘시오·제약)이 균형을 이룹니다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회사별 전체계 — EA+SCE+기타, 단수 조정 반영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485"/>
                <a:gridCol w="2262147"/>
                <a:gridCol w="2262147"/>
                <a:gridCol w="2129079"/>
                <a:gridCol w="133067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70,779,400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42,631,000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-28,148,400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-39.8%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650,000,000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677,940,000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+27,940,000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+4.3%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385,707,200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380,481,000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-5,226,200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-1.4%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161,394,600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215,742,600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+54,348,000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+33.7%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1,267,881,200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1,316,794,600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+48,913,400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+3.9%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E86C1A"/>
                </a:solidFill>
                <a:latin typeface="맑은 고딕"/>
                <a:ea typeface="맑은 고딕"/>
              </a:rPr>
              <a:t>읽는 법  </a:t>
            </a: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증가는 사업 확장 2개사(에스티젠바이오·동아에스티)의 EA True-up에서만 발생하고, 동아쏘시오홀딩스·동아제약은 Copilot 조정과 Easy Tree 종료로 총비용이 오히려 감소합니다. 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SCE(서버)와 EA Renewal(기존 인원)은 4사 모두 동결로, 그룹 전체 증가율은 +3.9%에 그칩니다.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04  |  EA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EA +12%는 사용자 244EA 증가의 결과이며, 단가 인상분은 0원입니다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— M365 E3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1939828"/>
                <a:gridCol w="1939828"/>
                <a:gridCol w="1818589"/>
                <a:gridCol w="1091153"/>
                <a:gridCol w="157611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수량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변동 없음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+44,990,400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1,249 → 1,341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+7,172,200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687 → 709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+59,514,000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+47%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300 → 430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934,197,600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1,045,874,200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+244EA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21992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6090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38728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Renewal (기존 인원)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4사 전액 동결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기존 라이선스 비용 부담 변동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298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True-up 순증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E86C1A"/>
                </a:solidFill>
                <a:latin typeface="맑은 고딕"/>
                <a:ea typeface="맑은 고딕"/>
              </a:rPr>
              <a:t>+244EA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에스티젠 130 · 에스티 92 · 제약 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7258" y="489204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4476" y="4846320"/>
            <a:ext cx="32714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증가분의 성격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사용 확대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단가 인상이 아닌 사업 확장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14436" y="489204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05  |  SCE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SCE 서버 라이선스는 5개 품목 × 4사 전체가 전년 동결입니다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— 25Y·26Y 동일 금액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836"/>
                <a:gridCol w="1903174"/>
                <a:gridCol w="1903174"/>
                <a:gridCol w="1903174"/>
                <a:gridCol w="190317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동아쏘시오홀딩스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동아에스티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동아제약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에스티젠바이오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5117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3522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87368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471416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0900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SCE 4사 합계 (25Y = 26Y)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262,521,102원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전 품목 증감 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892040"/>
            <a:ext cx="50900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비용 안정성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86C1A"/>
                </a:solidFill>
                <a:latin typeface="맑은 고딕"/>
                <a:ea typeface="맑은 고딕"/>
              </a:rPr>
              <a:t>3년 약정 동결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서버 인프라 예산의 예측 가능성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4937760"/>
            <a:ext cx="9525" cy="82296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06  |  OTHER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 -88% — Copilot 실사용 조정과 Easy Tree 종료로 62.8백만 원을 절감합니다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 — Copilot · Teams Pro · Easy Tree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1153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978"/>
                <a:gridCol w="2006719"/>
                <a:gridCol w="1755879"/>
                <a:gridCol w="1755879"/>
                <a:gridCol w="1128779"/>
                <a:gridCol w="188129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회사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동아쏘시오홀딩스㈜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12,398,400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26Y 갱신 종료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Easy Tree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15,750,000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유지보수 종료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동아에스티㈜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21,697,200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4,649,400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-79%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42 → 9 Copy 조정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Teams Pro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655,200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655,200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갱신 유지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동아제약㈜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15,498,000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3,099,600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-80%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30 → 6 Copy 조정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에스티젠바이오㈜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5,166,000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10 → 0 Copy 조정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기타 합계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71,164,800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8,404,200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-88%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7764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327141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연간 절감 효과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-62,760,600원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71,164,800 → 26Y 8,404,200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5029200"/>
            <a:ext cx="327141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Copilot 운영 원칙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E86C1A"/>
                </a:solidFill>
                <a:latin typeface="맑은 고딕"/>
                <a:ea typeface="맑은 고딕"/>
              </a:rPr>
              <a:t>실사용 기준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3사 82→15 Copy 재산정, 쏘시오는 갱신 종료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7258" y="5074920"/>
            <a:ext cx="9525" cy="77724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4476" y="5029200"/>
            <a:ext cx="327141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절감분의 활용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56% 상쇄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True-up 증가분 대비 기타 라이선스 절감액 비중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14436" y="5074920"/>
            <a:ext cx="9525" cy="77724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07  |  COMPANY DETAIL — 동아쏘시오홀딩스㈜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동아쏘시오홀딩스 -39.8% — Copilot·Easy Tree 종료로 연 28백만 원을 절감합니다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9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83464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8100" cy="48463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377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전체계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42,631,000원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70,779,400원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맑은 고딕"/>
                <a:ea typeface="맑은 고딕"/>
              </a:rPr>
              <a:t>-39.8%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비용 절감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EA 수량 변동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4356"/>
                </a:solidFill>
                <a:latin typeface="맑은 고딕"/>
                <a:ea typeface="맑은 고딕"/>
              </a:rPr>
              <a:t>EA·SCE 전 항목 동결에 더해 Copilot 갱신 종료·Easy Tree 유지보수 종료로 연 28,148,400원이 절감됩니다. ※ 전체계는 단수 조정 반영 금액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3716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49039" y="1609344"/>
          <a:ext cx="7799829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34,372,800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1,831,200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36,204,000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749039" y="16093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892808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76272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45973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7432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816352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49039" y="3054096"/>
          <a:ext cx="7799829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3,123,184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1,651,058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536,797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41,247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1,074,756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6,427,042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749039" y="3054096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319272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58444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849624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437997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464515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491032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50292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749039" y="5266944"/>
          <a:ext cx="7799829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12,398,400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Easy Tree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15,750,000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기타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28,148,400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749039" y="52669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55321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579729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606247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49039" y="632764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08  |  COMPANY DETAIL — 동아에스티㈜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동아에스티 +4.3% — True-up 92EA 증가를 Copilot 실사용 조정으로 상쇄했습니다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83464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8100" cy="48463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377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전체계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677,940,000원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650,000,000원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E86C1A"/>
                </a:solidFill>
                <a:latin typeface="맑은 고딕"/>
                <a:ea typeface="맑은 고딕"/>
              </a:rPr>
              <a:t>+4.3%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86C1A"/>
                </a:solidFill>
                <a:latin typeface="맑은 고딕"/>
                <a:ea typeface="맑은 고딕"/>
              </a:rPr>
              <a:t>사업 확장 반영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1,249EA → 1,341EA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4356"/>
                </a:solidFill>
                <a:latin typeface="맑은 고딕"/>
                <a:ea typeface="맑은 고딕"/>
              </a:rPr>
              <a:t>EA 증가액 44,990,400원(True-up 92EA)을 Copilot 조정 -17,047,800원(42→9 Copy)으로 상쇄해 총 증가율을 +4.3%로 낮췄습니다. ※ 전체계는 단수 조정(-4,860원) 반영 금액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3716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49039" y="1609344"/>
          <a:ext cx="7799829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430,831,800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63,966,000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108,956,400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+70%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494,797,800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539,788,200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+9%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749039" y="16093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892808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76272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45973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7432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816352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49039" y="3054096"/>
          <a:ext cx="7799829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59,588,929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38,704,440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13,265,847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786,981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20,505,863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132,852,060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749039" y="3054096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319272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58444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849624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437997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464515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491032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50292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749039" y="5266944"/>
          <a:ext cx="7799829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21,697,200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4,649,400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-79%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Teams Pro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655,200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655,200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기타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22,352,400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5,304,600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-76%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749039" y="52669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55321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579729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606247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49039" y="632764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09  |  COMPANY DETAIL — 동아제약㈜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동아제약 -1.4% — EA 증가에도 Copilot 최적화로 총비용이 감소합니다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83464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8100" cy="48463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377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전체계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380,481,000원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385,707,200원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A"/>
                </a:solidFill>
                <a:latin typeface="맑은 고딕"/>
                <a:ea typeface="맑은 고딕"/>
              </a:rPr>
              <a:t>-1.4%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총비용 감소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687EA → 709EA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4356"/>
                </a:solidFill>
                <a:latin typeface="맑은 고딕"/>
                <a:ea typeface="맑은 고딕"/>
              </a:rPr>
              <a:t>EA 증가액 7,172,200원(True-up 22EA)보다 Copilot 조정 절감액 -12,398,400원(30→6 Copy)이 커서, 총비용은 전년보다 5,226,200원 감소합니다.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3716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49039" y="1609344"/>
          <a:ext cx="7799829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224,985,600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50,815,800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57,988,000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+14%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275,801,400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282,973,600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+2.6%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749039" y="16093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892808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76272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45973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7432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816352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49039" y="3054096"/>
          <a:ext cx="7799829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36,661,930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34,816,200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9,829,270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484,200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12,616,200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94,407,800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749039" y="3054096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319272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58444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849624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437997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464515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491032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50292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749039" y="5266944"/>
          <a:ext cx="7799829" cy="79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15,498,000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3,099,600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-80%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기타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15,498,000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3,099,600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-80%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749039" y="52669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55321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57972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606247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10  |  COMPANY DETAIL — 에스티젠바이오㈜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A"/>
                </a:solidFill>
                <a:latin typeface="맑은 고딕"/>
                <a:ea typeface="맑은 고딕"/>
              </a:rPr>
              <a:t>에스티젠바이오 +33.7% — 증가분은 전액 True-up 130EA(사용자 순증)에서 발생했습니다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834640" cy="48463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8100" cy="484632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377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26Y 전체계 (VAT 별도)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215,742,600원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25Y 161,394,600원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전년 대비 증감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E86C1A"/>
                </a:solidFill>
                <a:latin typeface="맑은 고딕"/>
                <a:ea typeface="맑은 고딕"/>
              </a:rPr>
              <a:t>+33.7%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86C1A"/>
                </a:solidFill>
                <a:latin typeface="맑은 고딕"/>
                <a:ea typeface="맑은 고딕"/>
              </a:rPr>
              <a:t>사업 확장 대폭 반영</a:t>
            </a:r>
          </a:p>
          <a:p>
            <a:pPr algn="l">
              <a:spcAft>
                <a:spcPts val="400"/>
              </a:spcAft>
            </a:pPr>
            <a:r>
              <a:rPr sz="500" b="0" i="0">
                <a:solidFill>
                  <a:srgbClr val="3A4356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93A3"/>
                </a:solidFill>
                <a:latin typeface="맑은 고딕"/>
                <a:ea typeface="맑은 고딕"/>
              </a:rPr>
              <a:t>EA 수량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300EA → 430EA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3A4356"/>
                </a:solidFill>
                <a:latin typeface="맑은 고딕"/>
                <a:ea typeface="맑은 고딕"/>
              </a:rPr>
              <a:t>증가액 59,514,000원은 전액 True-up 130EA의 정산분으로 바이오 사업 확장에 따른 인력 확충을 반영하며, Copilot 종료(-5,166,000원)로 부가 비용은 정리했습니다.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3716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EA 라이선스 (M365 E3)  —  단위: 원, VAT 별도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49039" y="1609344"/>
          <a:ext cx="7799829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Renewal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57,808,800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MS EA True-up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69,585,600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129,099,600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+86%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EA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127,394,400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186,908,400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+47%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749039" y="16093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892808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76272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45973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743200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816352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SCE 라이선스  —  전 품목 동결 (25Y = 26Y)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49039" y="3054096"/>
          <a:ext cx="7799829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Enterprise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13,521,969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SQL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7,148,332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Win Server Standard Core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3,332,100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Visual Studio Ent with GitHub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178,590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SecureON - MS Unified Support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4,653,210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SCE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28,834,200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3749039" y="3054096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3319272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584448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849624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114800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4379976"/>
            <a:ext cx="7799831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464515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4910328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5029200"/>
            <a:ext cx="77998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1B2A4A"/>
                </a:solidFill>
                <a:latin typeface="맑은 고딕"/>
                <a:ea typeface="맑은 고딕"/>
              </a:rPr>
              <a:t>기타 라이선스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749039" y="5266944"/>
          <a:ext cx="7799829" cy="79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3"/>
                <a:gridCol w="1917991"/>
                <a:gridCol w="1917991"/>
                <a:gridCol w="115079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품목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Copilot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5,166,000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기타 소계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5,166,000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-100%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749039" y="5266944"/>
            <a:ext cx="7799831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5532120"/>
            <a:ext cx="7799831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5797296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6062472"/>
            <a:ext cx="7799831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11  |  GROWTH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순증 +48.9백만 원 = True-up +111.7 − 최적화 절감 62.8 — 단가 인상은 없습니다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증가 요인 분해 (단위: 원, VAT 별도)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9115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532"/>
                <a:gridCol w="2182307"/>
                <a:gridCol w="2182307"/>
                <a:gridCol w="2182307"/>
                <a:gridCol w="141208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25Y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26Y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증감액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성격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Renewal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747,999,000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변동 없음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True-up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186,198,600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297,875,200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+111,676,600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사용자 +244EA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SCE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262,521,102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변동 없음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기타 라이선스 합계 (4사)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71,164,800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8,404,200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-62,760,600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실사용 최적화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단수 조정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-2,302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-4,902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-2,600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총계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1,267,881,200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1,316,794,600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+48,913,400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6C1A"/>
                          </a:solidFill>
                          <a:latin typeface="맑은 고딕"/>
                          <a:ea typeface="맑은 고딕"/>
                        </a:rPr>
                        <a:t>+3.9%</a:t>
                      </a:r>
                    </a:p>
                  </a:txBody>
                  <a:tcPr anchor="ctr" marL="73152" marR="73152" marT="9144" marB="914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37360"/>
            <a:ext cx="10911535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21408"/>
            <a:ext cx="10911535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05456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9504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735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41648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425696"/>
            <a:ext cx="10911535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증감 구성 요소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True-up 순증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86C1A"/>
                </a:solidFill>
                <a:latin typeface="맑은 고딕"/>
                <a:ea typeface="맑은 고딕"/>
              </a:rPr>
              <a:t>+111,676,600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에스티젠 130 · 에스티 92 · 제약 22 (+244EA)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2283" y="480060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Copilot 조정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-47,010,600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3사 82→15 Copy 재산정 + 쏘시오 갱신 종료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7963" y="484632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6" y="480060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Easy Tree 종료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B2A4A"/>
                </a:solidFill>
                <a:latin typeface="맑은 고딕"/>
                <a:ea typeface="맑은 고딕"/>
              </a:rPr>
              <a:t>-15,750,000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유지보수 계약 종료 (쏘시오홀딩스)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6" y="484632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049" y="4800600"/>
            <a:ext cx="24078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순 증감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86C1A"/>
                </a:solidFill>
                <a:latin typeface="맑은 고딕"/>
                <a:ea typeface="맑은 고딕"/>
              </a:rPr>
              <a:t>+48,913,400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전년 대비 +3.9%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729" y="4846320"/>
            <a:ext cx="9525" cy="114300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12  |  TERMS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A"/>
                </a:solidFill>
                <a:latin typeface="맑은 고딕"/>
                <a:ea typeface="맑은 고딕"/>
              </a:rPr>
              <a:t>계약 조건 요약 및 진행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457200" cy="38100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11535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동아그룹 Microsoft 라이선스 갱신 제안서  |  2026.03.31 ~ 2028.04.01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9418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맑은 고딕"/>
                <a:ea typeface="맑은 고딕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계약 조건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539496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38963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계약기간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2026. 03. 31 ~ 2028. 04. 01  (3년 차 갱신)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계약 구성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EA(M365 E3) + SCE(서버) + 기타 라이선스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단가 조건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EA Renewal·SCE 전 품목 전년 동결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부가세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별도 (VAT 미포함 금액 기준)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3A4356"/>
                          </a:solidFill>
                          <a:latin typeface="맑은 고딕"/>
                          <a:ea typeface="맑은 고딕"/>
                        </a:rPr>
                        <a:t>26Y 계약 총액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1,316,794,600원 (4사 합계, 단수 조정 반영)</a:t>
                      </a:r>
                    </a:p>
                  </a:txBody>
                  <a:tcPr anchor="ctr" marL="73152" marR="7315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1783080"/>
            <a:ext cx="539496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03704"/>
            <a:ext cx="5394960" cy="95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24328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65576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06824"/>
            <a:ext cx="5394960" cy="127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진행 일정 (제안)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82880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제안서 검토 및 회사별 수량 확정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359152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8716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87168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견적 확정 및 내부 품의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17520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4553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45536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계약 체결 (2026. 03. 31 발효)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75888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03904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E86C1A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03904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A4356"/>
                </a:solidFill>
                <a:latin typeface="맑은 고딕"/>
                <a:ea typeface="맑은 고딕"/>
              </a:rPr>
              <a:t>갱신 적용 및 연중 True-up 관리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334256"/>
            <a:ext cx="5029200" cy="6350"/>
          </a:xfrm>
          <a:prstGeom prst="rect">
            <a:avLst/>
          </a:prstGeom>
          <a:solidFill>
            <a:srgbClr val="E1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86C1A"/>
                </a:solidFill>
                <a:latin typeface="맑은 고딕"/>
                <a:ea typeface="맑은 고딕"/>
              </a:rPr>
              <a:t>지원 사항  </a:t>
            </a:r>
            <a:r>
              <a:rPr sz="1050" b="0" i="0">
                <a:solidFill>
                  <a:srgbClr val="3A4356"/>
                </a:solidFill>
                <a:latin typeface="맑은 고딕"/>
                <a:ea typeface="맑은 고딕"/>
              </a:rPr>
              <a:t>계약 기간 중 라이선스 컴플라이언스 점검, True-up 수량 관리, Copilot 등 부가 라이선스의 실사용 모니터링, SecureON MS Unified Support 기반 기술 지원 및 전담 담당자를 통한 구매 문의 대응을 제공합니다.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-457200"/>
            <a:ext cx="3200400" cy="77724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128016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081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3A3"/>
                </a:solidFill>
                <a:latin typeface="맑은 고딕"/>
                <a:ea typeface="맑은 고딕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B2A4A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8961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기존 비용은 동결로 지키고, 쓰지 않는 것은 덜어내고, 성장에 필요한 만큼만 더하는 갱신을 제안드립니다.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동아그룹 4개사의 안정적인 Microsoft 업무·서버 환경과 사업 확장을 계속 지원하겠습니다.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E86C1A"/>
                </a:solidFill>
                <a:latin typeface="맑은 고딕"/>
                <a:ea typeface="맑은 고딕"/>
              </a:rPr>
              <a:t>—  </a:t>
            </a:r>
            <a:r>
              <a:rPr sz="1200" b="0" i="0">
                <a:solidFill>
                  <a:srgbClr val="3A4356"/>
                </a:solidFill>
                <a:latin typeface="맑은 고딕"/>
                <a:ea typeface="맑은 고딕"/>
              </a:rPr>
              <a:t>제안서 검토 후 수량 확정을 요청드리며, 2026년 3월 31일 계약 발효를 목표로 진행하겠습니다.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맑은 고딕"/>
                <a:ea typeface="맑은 고딕"/>
              </a:rPr>
              <a:t>본 제안서의 금액은 부가세 별도 기준이며, 최종 수량 확정 시 일부 조정될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