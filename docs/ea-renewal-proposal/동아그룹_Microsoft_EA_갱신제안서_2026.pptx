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9DC3E6"/>
                </a:solidFill>
                <a:latin typeface="맑은 고딕"/>
                <a:ea typeface="맑은 고딕"/>
              </a:rPr>
              <a:t>Microsoft Enterprise Agreement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31720"/>
            <a:ext cx="103327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 i="0">
                <a:solidFill>
                  <a:srgbClr val="FFFFFF"/>
                </a:solidFill>
                <a:latin typeface="맑은 고딕"/>
                <a:ea typeface="맑은 고딕"/>
              </a:rPr>
              <a:t>동아그룹 주요 4개사</a:t>
            </a:r>
          </a:p>
          <a:p>
            <a:pPr algn="l">
              <a:spcAft>
                <a:spcPts val="800"/>
              </a:spcAft>
            </a:pPr>
            <a:r>
              <a:rPr sz="4000" b="1" i="0">
                <a:solidFill>
                  <a:srgbClr val="FFFFFF"/>
                </a:solidFill>
                <a:latin typeface="맑은 고딕"/>
                <a:ea typeface="맑은 고딕"/>
              </a:rPr>
              <a:t>Microsoft EA 라이선스 갱신 제안서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34840"/>
            <a:ext cx="10332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</a:rPr>
              <a:t>계약기간  |  2026. 02. 06 ~ 2028. 02. 05 (3년 차 갱신)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BDD7EE"/>
                </a:solidFill>
                <a:latin typeface="맑은 고딕"/>
                <a:ea typeface="맑은 고딕"/>
              </a:rPr>
              <a:t>대상  |  동아쏘시오홀딩스㈜ · 동아에스티㈜ · 동아제약㈜ · 에스티젠바이오㈜</a:t>
            </a:r>
          </a:p>
          <a:p>
            <a:pPr algn="l">
              <a:spcAft>
                <a:spcPts val="1000"/>
              </a:spcAft>
            </a:pPr>
            <a:r>
              <a:rPr sz="1200" b="0" i="0">
                <a:solidFill>
                  <a:srgbClr val="8EA9C1"/>
                </a:solidFill>
                <a:latin typeface="맑은 고딕"/>
                <a:ea typeface="맑은 고딕"/>
              </a:rPr>
              <a:t>2026년 7월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맑은 고딕"/>
                <a:ea typeface="맑은 고딕"/>
              </a:rPr>
              <a:t>목차 (Contents)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맑은 고딕"/>
                <a:ea typeface="맑은 고딕"/>
              </a:rPr>
              <a:t>동아그룹 Microsoft EA 라이선스 갱신 제안서  |  2026.02.06 ~ 2028.02.05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595959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554480"/>
            <a:ext cx="685800" cy="68580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2E75B6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1554480"/>
            <a:ext cx="45720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212121"/>
                </a:solidFill>
                <a:latin typeface="맑은 고딕"/>
                <a:ea typeface="맑은 고딕"/>
              </a:rPr>
              <a:t>제안 개요 (Executive Summary)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468880"/>
            <a:ext cx="685800" cy="68580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468880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2E75B6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468880"/>
            <a:ext cx="45720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212121"/>
                </a:solidFill>
                <a:latin typeface="맑은 고딕"/>
                <a:ea typeface="맑은 고딕"/>
              </a:rPr>
              <a:t>EA 계약 구조 및 단가 기준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383280"/>
            <a:ext cx="685800" cy="68580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383280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2E75B6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3383280"/>
            <a:ext cx="45720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212121"/>
                </a:solidFill>
                <a:latin typeface="맑은 고딕"/>
                <a:ea typeface="맑은 고딕"/>
              </a:rPr>
              <a:t>주요 4사 요약 비교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297680"/>
            <a:ext cx="685800" cy="68580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297680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2E75B6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4297680"/>
            <a:ext cx="45720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212121"/>
                </a:solidFill>
                <a:latin typeface="맑은 고딕"/>
                <a:ea typeface="맑은 고딕"/>
              </a:rPr>
              <a:t>회사별 제안 — 동아쏘시오홀딩스㈜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5212080"/>
            <a:ext cx="685800" cy="68580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212080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2E75B6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5212080"/>
            <a:ext cx="45720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212121"/>
                </a:solidFill>
                <a:latin typeface="맑은 고딕"/>
                <a:ea typeface="맑은 고딕"/>
              </a:rPr>
              <a:t>회사별 제안 — 동아에스티㈜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1554480"/>
            <a:ext cx="685800" cy="68580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1554480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2E75B6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0" y="1554480"/>
            <a:ext cx="45720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212121"/>
                </a:solidFill>
                <a:latin typeface="맑은 고딕"/>
                <a:ea typeface="맑은 고딕"/>
              </a:rPr>
              <a:t>회사별 제안 — 동아제약㈜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2468880"/>
            <a:ext cx="685800" cy="68580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2468880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2E75B6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0" y="2468880"/>
            <a:ext cx="45720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212121"/>
                </a:solidFill>
                <a:latin typeface="맑은 고딕"/>
                <a:ea typeface="맑은 고딕"/>
              </a:rPr>
              <a:t>회사별 제안 — 에스티젠바이오㈜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0" y="3383280"/>
            <a:ext cx="685800" cy="68580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3383280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2E75B6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0" y="3383280"/>
            <a:ext cx="45720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212121"/>
                </a:solidFill>
                <a:latin typeface="맑은 고딕"/>
                <a:ea typeface="맑은 고딕"/>
              </a:rPr>
              <a:t>증감 요인 분석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0" y="4297680"/>
            <a:ext cx="685800" cy="68580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0" y="4297680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2E75B6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80" y="4297680"/>
            <a:ext cx="45720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212121"/>
                </a:solidFill>
                <a:latin typeface="맑은 고딕"/>
                <a:ea typeface="맑은 고딕"/>
              </a:rPr>
              <a:t>계약 조건 및 향후 일정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맑은 고딕"/>
                <a:ea typeface="맑은 고딕"/>
              </a:rPr>
              <a:t>01. 제안 개요 (Executive Summary)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8755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맑은 고딕"/>
                <a:ea typeface="맑은 고딕"/>
              </a:rPr>
              <a:t>Microsoft EA 3년 차 갱신 — Renewal 전액 동결, 증가분은 전액 사업 성장(True-up)에 기인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맑은 고딕"/>
                <a:ea typeface="맑은 고딕"/>
              </a:rPr>
              <a:t>동아그룹 Microsoft EA 라이선스 갱신 제안서  |  2026.02.06 ~ 2028.02.05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595959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5120640" cy="457200"/>
          </a:xfrm>
          <a:prstGeom prst="rect">
            <a:avLst/>
          </a:prstGeom>
          <a:solidFill>
            <a:srgbClr val="123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1732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계약 개요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874519"/>
          <a:ext cx="51206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840480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계약 유형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Microsoft EA (Enterprise Agreement) 3년 차 갱신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계약기간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2026. 02. 06 ~ 2028. 02. 05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대상 법인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동아쏘시오홀딩스, 동아에스티, 동아제약, 에스티젠바이오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단가 기준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Renewal 390,600원/명 · True-up 457,800원/명 (VAT 별도)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989320" y="1417320"/>
            <a:ext cx="5669280" cy="2834640"/>
          </a:xfrm>
          <a:prstGeom prst="rect">
            <a:avLst/>
          </a:prstGeom>
          <a:solidFill>
            <a:srgbClr val="F2F7FC"/>
          </a:solidFill>
          <a:ln w="9525">
            <a:solidFill>
              <a:srgbClr val="DEEB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691640"/>
            <a:ext cx="50292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300" b="1" i="0">
                <a:solidFill>
                  <a:srgbClr val="595959"/>
                </a:solidFill>
                <a:latin typeface="맑은 고딕"/>
                <a:ea typeface="맑은 고딕"/>
              </a:rPr>
              <a:t>주요 4사 EA 합계 (VAT 별도)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595959"/>
                </a:solidFill>
                <a:latin typeface="맑은 고딕"/>
                <a:ea typeface="맑은 고딕"/>
              </a:rPr>
              <a:t>25Y  934,197,600원</a:t>
            </a:r>
          </a:p>
          <a:p>
            <a:pPr algn="l">
              <a:spcAft>
                <a:spcPts val="1200"/>
              </a:spcAft>
            </a:pPr>
            <a:r>
              <a:rPr sz="2800" b="1" i="0">
                <a:solidFill>
                  <a:srgbClr val="12314E"/>
                </a:solidFill>
                <a:latin typeface="맑은 고딕"/>
                <a:ea typeface="맑은 고딕"/>
              </a:rPr>
              <a:t>26Y  1,045,874,200원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E86C1A"/>
                </a:solidFill>
                <a:latin typeface="맑은 고딕"/>
                <a:ea typeface="맑은 고딕"/>
              </a:rPr>
              <a:t>전년 대비 +12.0%  (증가액 111,676,600원)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526280"/>
            <a:ext cx="36118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4526280"/>
            <a:ext cx="3611880" cy="4572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526280"/>
            <a:ext cx="32461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Renewal 전사 동결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120640"/>
            <a:ext cx="3246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212121"/>
                </a:solidFill>
                <a:latin typeface="맑은 고딕"/>
                <a:ea typeface="맑은 고딕"/>
              </a:rPr>
              <a:t>4개사 모두 기존 인원 갱신 단가·금액을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212121"/>
                </a:solidFill>
                <a:latin typeface="맑은 고딕"/>
                <a:ea typeface="맑은 고딕"/>
              </a:rPr>
              <a:t>전년과 동일하게 동결 (증감 0%)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5112" y="4526280"/>
            <a:ext cx="36118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25112" y="4526280"/>
            <a:ext cx="3611880" cy="4572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07992" y="4526280"/>
            <a:ext cx="32461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증가분 = 100% True-up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7992" y="5120640"/>
            <a:ext cx="3246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212121"/>
                </a:solidFill>
                <a:latin typeface="맑은 고딕"/>
                <a:ea typeface="맑은 고딕"/>
              </a:rPr>
              <a:t>증가액 1.1억원은 전액 신규 인원 정산분.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212121"/>
                </a:solidFill>
                <a:latin typeface="맑은 고딕"/>
                <a:ea typeface="맑은 고딕"/>
              </a:rPr>
              <a:t>계약 단가 인상 요인은 없음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47304" y="4526280"/>
            <a:ext cx="36118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47304" y="4526280"/>
            <a:ext cx="3611880" cy="4572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0184" y="4526280"/>
            <a:ext cx="32461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사업 성장의 반영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0184" y="5120640"/>
            <a:ext cx="3246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212121"/>
                </a:solidFill>
                <a:latin typeface="맑은 고딕"/>
                <a:ea typeface="맑은 고딕"/>
              </a:rPr>
              <a:t>동아에스티(+168명)·에스티젠바이오(+214명)의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212121"/>
                </a:solidFill>
                <a:latin typeface="맑은 고딕"/>
                <a:ea typeface="맑은 고딕"/>
              </a:rPr>
              <a:t>사업 확장에 따른 사용 규모 확대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맑은 고딕"/>
                <a:ea typeface="맑은 고딕"/>
              </a:rPr>
              <a:t>02. EA 계약 구조 및 단가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8755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맑은 고딕"/>
                <a:ea typeface="맑은 고딕"/>
              </a:rPr>
              <a:t>Enterprise Agreement — 3년 약정 볼륨 라이선스, 연 단위 정산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맑은 고딕"/>
                <a:ea typeface="맑은 고딕"/>
              </a:rPr>
              <a:t>동아그룹 Microsoft EA 라이선스 갱신 제안서  |  2026.02.06 ~ 2028.02.05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595959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00200"/>
            <a:ext cx="566928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600200"/>
            <a:ext cx="5669280" cy="566928"/>
          </a:xfrm>
          <a:prstGeom prst="rect">
            <a:avLst/>
          </a:prstGeom>
          <a:solidFill>
            <a:srgbClr val="123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5212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Renewal (기존 갱신)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31720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2E75B6"/>
                </a:solidFill>
                <a:latin typeface="맑은 고딕"/>
                <a:ea typeface="맑은 고딕"/>
              </a:rPr>
              <a:t>390,600원 / 명 (VAT 별도)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26080"/>
            <a:ext cx="52120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12121"/>
                </a:solidFill>
                <a:latin typeface="맑은 고딕"/>
                <a:ea typeface="맑은 고딕"/>
              </a:rPr>
              <a:t>·  EA 등록 기준 인원에 대한 연간 갱신 금액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12121"/>
                </a:solidFill>
                <a:latin typeface="맑은 고딕"/>
                <a:ea typeface="맑은 고딕"/>
              </a:rPr>
              <a:t>·  약정 단가로 3년간 안정적 예산 운영 가능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12121"/>
                </a:solidFill>
                <a:latin typeface="맑은 고딕"/>
                <a:ea typeface="맑은 고딕"/>
              </a:rPr>
              <a:t>·  금회 갱신 시 4개사 전체 단가·금액 동결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600200"/>
            <a:ext cx="566928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1600200"/>
            <a:ext cx="5669280" cy="566928"/>
          </a:xfrm>
          <a:prstGeom prst="rect">
            <a:avLst/>
          </a:prstGeom>
          <a:solidFill>
            <a:srgbClr val="123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1600200"/>
            <a:ext cx="5212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True-up (추가 구매)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331720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2E75B6"/>
                </a:solidFill>
                <a:latin typeface="맑은 고딕"/>
                <a:ea typeface="맑은 고딕"/>
              </a:rPr>
              <a:t>457,800원 / 명 (VAT 별도)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926080"/>
            <a:ext cx="52120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12121"/>
                </a:solidFill>
                <a:latin typeface="맑은 고딕"/>
                <a:ea typeface="맑은 고딕"/>
              </a:rPr>
              <a:t>·  연중 증가한 사용 인원을 연 1회 일괄 정산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12121"/>
                </a:solidFill>
                <a:latin typeface="맑은 고딕"/>
                <a:ea typeface="맑은 고딕"/>
              </a:rPr>
              <a:t>·  선구매 부담 없이 실제 증가분만 사후 반영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12121"/>
                </a:solidFill>
                <a:latin typeface="맑은 고딕"/>
                <a:ea typeface="맑은 고딕"/>
              </a:rPr>
              <a:t>·  차년도부터 Renewal 기준 수량에 편입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983480"/>
            <a:ext cx="11155680" cy="1188720"/>
          </a:xfrm>
          <a:prstGeom prst="rect">
            <a:avLst/>
          </a:prstGeom>
          <a:solidFill>
            <a:srgbClr val="F2F7FC"/>
          </a:solidFill>
          <a:ln w="9525">
            <a:solidFill>
              <a:srgbClr val="DEEB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166360"/>
            <a:ext cx="106070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2314E"/>
                </a:solidFill>
                <a:latin typeface="맑은 고딕"/>
                <a:ea typeface="맑은 고딕"/>
              </a:rPr>
              <a:t>EA 정산 사이클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212121"/>
                </a:solidFill>
                <a:latin typeface="맑은 고딕"/>
                <a:ea typeface="맑은 고딕"/>
              </a:rPr>
              <a:t>계약 발효 (매년 2/6)  →  연중 사용 인원 증가  →  연 1회 True-up 정산  →  차기 연도 Renewal 수량 반영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맑은 고딕"/>
                <a:ea typeface="맑은 고딕"/>
              </a:rPr>
              <a:t>03. 주요 4사 요약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8755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맑은 고딕"/>
                <a:ea typeface="맑은 고딕"/>
              </a:rPr>
              <a:t>25Y 대비 26Y EA 비용 비교 — 증가분은 전액 True-up(신규 인원) 반영분 (단위: 원, VAT 별도)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맑은 고딕"/>
                <a:ea typeface="맑은 고딕"/>
              </a:rPr>
              <a:t>동아그룹 Microsoft EA 라이선스 갱신 제안서  |  2026.02.06 ~ 2028.02.05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595959"/>
                </a:solidFill>
                <a:latin typeface="맑은 고딕"/>
                <a:ea typeface="맑은 고딕"/>
              </a:rPr>
              <a:t>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600200"/>
          <a:ext cx="11155676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9432"/>
                <a:gridCol w="1772397"/>
                <a:gridCol w="1772397"/>
                <a:gridCol w="1668139"/>
                <a:gridCol w="1042586"/>
                <a:gridCol w="2710725"/>
              </a:tblGrid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25Y 금액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26Y 금액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증감액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증감률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주요 사유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동아쏘시오홀딩스㈜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36,204,000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36,204,000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전년 동결 (인원 변동 없음)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동아에스티㈜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494,797,800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539,788,200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+44,990,400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+9.0%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25년 True-up 168명 추가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동아제약㈜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275,801,400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282,973,600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+7,172,200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+2.6%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25년 True-up 22명 추가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에스티젠바이오㈜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127,394,400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186,908,400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+59,514,000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+46.7%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사업 확장, True-up 214명 대폭 추가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합계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934,197,600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12314E"/>
                          </a:solidFill>
                          <a:latin typeface="맑은 고딕"/>
                          <a:ea typeface="맑은 고딕"/>
                        </a:rPr>
                        <a:t>1,045,874,200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+111,676,600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+12.0%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02920" y="5029200"/>
            <a:ext cx="11155680" cy="1143000"/>
          </a:xfrm>
          <a:prstGeom prst="rect">
            <a:avLst/>
          </a:prstGeom>
          <a:solidFill>
            <a:srgbClr val="F2F7FC"/>
          </a:solidFill>
          <a:ln w="9525">
            <a:solidFill>
              <a:srgbClr val="DEEB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93792"/>
            <a:ext cx="106070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12314E"/>
                </a:solidFill>
                <a:latin typeface="맑은 고딕"/>
                <a:ea typeface="맑은 고딕"/>
              </a:rPr>
              <a:t>핵심 요약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12121"/>
                </a:solidFill>
                <a:latin typeface="맑은 고딕"/>
                <a:ea typeface="맑은 고딕"/>
              </a:rPr>
              <a:t>· 4개사 모두 Renewal(기존 인원)은 전년 금액 그대로 동결되었으며, 증가액 111,676,600원은 전액 25년 True-up 404명(에스티 168 · 제약 22 · 에스티젠 214)의 신규 정산분입니다.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맑은 고딕"/>
                <a:ea typeface="맑은 고딕"/>
              </a:rPr>
              <a:t>04. 회사별 제안 — 동아쏘시오홀딩스㈜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8755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맑은 고딕"/>
                <a:ea typeface="맑은 고딕"/>
              </a:rPr>
              <a:t>그룹 지주회사 — 인원 변동 없이 기존 계약 조건 그대로 유지 (단위: 원, VAT 별도)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맑은 고딕"/>
                <a:ea typeface="맑은 고딕"/>
              </a:rPr>
              <a:t>동아그룹 Microsoft EA 라이선스 갱신 제안서  |  2026.02.06 ~ 2028.02.05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595959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54480"/>
            <a:ext cx="3200400" cy="1737360"/>
          </a:xfrm>
          <a:prstGeom prst="rect">
            <a:avLst/>
          </a:prstGeom>
          <a:solidFill>
            <a:srgbClr val="123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83080"/>
            <a:ext cx="265176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BDD7EE"/>
                </a:solidFill>
                <a:latin typeface="맑은 고딕"/>
                <a:ea typeface="맑은 고딕"/>
              </a:rPr>
              <a:t>26Y 증감률 (전년比)</a:t>
            </a:r>
          </a:p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맑은 고딕"/>
                <a:ea typeface="맑은 고딕"/>
              </a:rPr>
              <a:t>0%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FFC07A"/>
                </a:solidFill>
                <a:latin typeface="맑은 고딕"/>
                <a:ea typeface="맑은 고딕"/>
              </a:rPr>
              <a:t>전년 동결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977639" y="1554480"/>
          <a:ext cx="7680957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4896"/>
                <a:gridCol w="1786269"/>
                <a:gridCol w="1518329"/>
                <a:gridCol w="1518329"/>
                <a:gridCol w="893134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수량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25Y 금액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26Y 금액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Renewal (기존 갱신)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88명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34,372,800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34,372,800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동결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True-up (추가 구매)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24Y 4명 · 25Y 0명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1,831,200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1,831,200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동결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EA 소계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36,204,000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12314E"/>
                          </a:solidFill>
                          <a:latin typeface="맑은 고딕"/>
                          <a:ea typeface="맑은 고딕"/>
                        </a:rPr>
                        <a:t>36,204,000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2E75B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02920" y="3931920"/>
            <a:ext cx="11155680" cy="4572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25Y → 26Y 비용 변동 사유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389120"/>
            <a:ext cx="11155680" cy="1874519"/>
          </a:xfrm>
          <a:prstGeom prst="rect">
            <a:avLst/>
          </a:prstGeom>
          <a:solidFill>
            <a:srgbClr val="F2F7FC"/>
          </a:solidFill>
          <a:ln w="9525">
            <a:solidFill>
              <a:srgbClr val="DEEB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572000"/>
            <a:ext cx="106070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12121"/>
                </a:solidFill>
                <a:latin typeface="맑은 고딕"/>
                <a:ea typeface="맑은 고딕"/>
              </a:rPr>
              <a:t>·  25년 신규 True-up 인원이 없어 26Y 금액은 전년과 동일하게 동결됩니다.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12121"/>
                </a:solidFill>
                <a:latin typeface="맑은 고딕"/>
                <a:ea typeface="맑은 고딕"/>
              </a:rPr>
              <a:t>·  Renewal 88명 및 기존 True-up 4명(24년)의 계약 조건이 그대로 유지됩니다.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12121"/>
                </a:solidFill>
                <a:latin typeface="맑은 고딕"/>
                <a:ea typeface="맑은 고딕"/>
              </a:rPr>
              <a:t>·  3년 차 갱신에도 단가 인상 없이 안정적인 IT 예산 운영이 가능합니다.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맑은 고딕"/>
                <a:ea typeface="맑은 고딕"/>
              </a:rPr>
              <a:t>05. 회사별 제안 — 동아에스티㈜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8755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맑은 고딕"/>
                <a:ea typeface="맑은 고딕"/>
              </a:rPr>
              <a:t>전문의약품 사업 성장 — 25년 True-up 168명 추가 반영 (단위: 원, VAT 별도)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맑은 고딕"/>
                <a:ea typeface="맑은 고딕"/>
              </a:rPr>
              <a:t>동아그룹 Microsoft EA 라이선스 갱신 제안서  |  2026.02.06 ~ 2028.02.05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595959"/>
                </a:solidFill>
                <a:latin typeface="맑은 고딕"/>
                <a:ea typeface="맑은 고딕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54480"/>
            <a:ext cx="3200400" cy="1737360"/>
          </a:xfrm>
          <a:prstGeom prst="rect">
            <a:avLst/>
          </a:prstGeom>
          <a:solidFill>
            <a:srgbClr val="123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83080"/>
            <a:ext cx="265176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BDD7EE"/>
                </a:solidFill>
                <a:latin typeface="맑은 고딕"/>
                <a:ea typeface="맑은 고딕"/>
              </a:rPr>
              <a:t>26Y 증감률 (전년比)</a:t>
            </a:r>
          </a:p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맑은 고딕"/>
                <a:ea typeface="맑은 고딕"/>
              </a:rPr>
              <a:t>+9.0%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FFC07A"/>
                </a:solidFill>
                <a:latin typeface="맑은 고딕"/>
                <a:ea typeface="맑은 고딕"/>
              </a:rPr>
              <a:t>사업 확장 반영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977639" y="1554480"/>
          <a:ext cx="7680957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4896"/>
                <a:gridCol w="1786269"/>
                <a:gridCol w="1518329"/>
                <a:gridCol w="1518329"/>
                <a:gridCol w="893134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수량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25Y 금액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26Y 금액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Renewal (기존 갱신)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1,103명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430,831,800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430,831,800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동결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True-up (추가 구매)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24Y 70명 · 25Y 168명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63,966,000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108,956,400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+70.3%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EA 소계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1,249EA → 1,341EA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494,797,800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12314E"/>
                          </a:solidFill>
                          <a:latin typeface="맑은 고딕"/>
                          <a:ea typeface="맑은 고딕"/>
                        </a:rPr>
                        <a:t>539,788,200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+9.0%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02920" y="3931920"/>
            <a:ext cx="11155680" cy="4572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25Y → 26Y 비용 변동 사유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389120"/>
            <a:ext cx="11155680" cy="1874519"/>
          </a:xfrm>
          <a:prstGeom prst="rect">
            <a:avLst/>
          </a:prstGeom>
          <a:solidFill>
            <a:srgbClr val="F2F7FC"/>
          </a:solidFill>
          <a:ln w="9525">
            <a:solidFill>
              <a:srgbClr val="DEEB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572000"/>
            <a:ext cx="106070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12121"/>
                </a:solidFill>
                <a:latin typeface="맑은 고딕"/>
                <a:ea typeface="맑은 고딕"/>
              </a:rPr>
              <a:t>·  Renewal 1,103명 금액은 전년과 동일하게 전액 동결되었습니다.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12121"/>
                </a:solidFill>
                <a:latin typeface="맑은 고딕"/>
                <a:ea typeface="맑은 고딕"/>
              </a:rPr>
              <a:t>·  증가분 44,990,400원은 전액 25년 True-up 168명의 신규 정산분으로, 임직원 증가 등 사업 확장에 따른 사용 규모 확대를 반영합니다.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12121"/>
                </a:solidFill>
                <a:latin typeface="맑은 고딕"/>
                <a:ea typeface="맑은 고딕"/>
              </a:rPr>
              <a:t>·  26Y 기준 총 1,341EA로 확대되어, 전사 표준 협업 환경이 성장 조직 전체에 일관되게 적용됩니다.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맑은 고딕"/>
                <a:ea typeface="맑은 고딕"/>
              </a:rPr>
              <a:t>06. 회사별 제안 — 동아제약㈜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8755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맑은 고딕"/>
                <a:ea typeface="맑은 고딕"/>
              </a:rPr>
              <a:t>일반의약품·컨슈머헬스케어 — 25년 True-up 22명 추가 반영 (단위: 원, VAT 별도)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맑은 고딕"/>
                <a:ea typeface="맑은 고딕"/>
              </a:rPr>
              <a:t>동아그룹 Microsoft EA 라이선스 갱신 제안서  |  2026.02.06 ~ 2028.02.05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595959"/>
                </a:solidFill>
                <a:latin typeface="맑은 고딕"/>
                <a:ea typeface="맑은 고딕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54480"/>
            <a:ext cx="3200400" cy="1737360"/>
          </a:xfrm>
          <a:prstGeom prst="rect">
            <a:avLst/>
          </a:prstGeom>
          <a:solidFill>
            <a:srgbClr val="123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83080"/>
            <a:ext cx="265176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BDD7EE"/>
                </a:solidFill>
                <a:latin typeface="맑은 고딕"/>
                <a:ea typeface="맑은 고딕"/>
              </a:rPr>
              <a:t>26Y 증감률 (전년比)</a:t>
            </a:r>
          </a:p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맑은 고딕"/>
                <a:ea typeface="맑은 고딕"/>
              </a:rPr>
              <a:t>+2.6%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FFC07A"/>
                </a:solidFill>
                <a:latin typeface="맑은 고딕"/>
                <a:ea typeface="맑은 고딕"/>
              </a:rPr>
              <a:t>소폭 증가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977639" y="1554480"/>
          <a:ext cx="7680957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4896"/>
                <a:gridCol w="1786269"/>
                <a:gridCol w="1518329"/>
                <a:gridCol w="1518329"/>
                <a:gridCol w="893134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수량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25Y 금액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26Y 금액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Renewal (기존 갱신)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576명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224,985,600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224,985,600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동결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True-up (추가 구매)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24Y 111명 · 25Y 22명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50,815,800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57,988,000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+14.1%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EA 소계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687EA → 709EA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275,801,400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12314E"/>
                          </a:solidFill>
                          <a:latin typeface="맑은 고딕"/>
                          <a:ea typeface="맑은 고딕"/>
                        </a:rPr>
                        <a:t>282,973,600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+2.6%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02920" y="3931920"/>
            <a:ext cx="11155680" cy="4572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25Y → 26Y 비용 변동 사유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389120"/>
            <a:ext cx="11155680" cy="1874519"/>
          </a:xfrm>
          <a:prstGeom prst="rect">
            <a:avLst/>
          </a:prstGeom>
          <a:solidFill>
            <a:srgbClr val="F2F7FC"/>
          </a:solidFill>
          <a:ln w="9525">
            <a:solidFill>
              <a:srgbClr val="DEEB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572000"/>
            <a:ext cx="106070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12121"/>
                </a:solidFill>
                <a:latin typeface="맑은 고딕"/>
                <a:ea typeface="맑은 고딕"/>
              </a:rPr>
              <a:t>·  Renewal 576명 금액은 전년과 동일하게 전액 동결되었습니다.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12121"/>
                </a:solidFill>
                <a:latin typeface="맑은 고딕"/>
                <a:ea typeface="맑은 고딕"/>
              </a:rPr>
              <a:t>·  증가분 7,172,200원은 25년 True-up 22명의 신규 정산분으로, 실사용 증가분만 반영된 최소 수준의 조정입니다.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12121"/>
                </a:solidFill>
                <a:latin typeface="맑은 고딕"/>
                <a:ea typeface="맑은 고딕"/>
              </a:rPr>
              <a:t>·  26Y 기준 총 709EA로, 전년 대비 2.6%의 안정적인 증가율을 유지합니다.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맑은 고딕"/>
                <a:ea typeface="맑은 고딕"/>
              </a:rPr>
              <a:t>07. 회사별 제안 — 에스티젠바이오㈜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8755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맑은 고딕"/>
                <a:ea typeface="맑은 고딕"/>
              </a:rPr>
              <a:t>바이오의약품 사업 확장 — 25년 True-up 214명 대폭 추가 (단위: 원, VAT 별도)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맑은 고딕"/>
                <a:ea typeface="맑은 고딕"/>
              </a:rPr>
              <a:t>동아그룹 Microsoft EA 라이선스 갱신 제안서  |  2026.02.06 ~ 2028.02.05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595959"/>
                </a:solidFill>
                <a:latin typeface="맑은 고딕"/>
                <a:ea typeface="맑은 고딕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54480"/>
            <a:ext cx="3200400" cy="1737360"/>
          </a:xfrm>
          <a:prstGeom prst="rect">
            <a:avLst/>
          </a:prstGeom>
          <a:solidFill>
            <a:srgbClr val="123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83080"/>
            <a:ext cx="265176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BDD7EE"/>
                </a:solidFill>
                <a:latin typeface="맑은 고딕"/>
                <a:ea typeface="맑은 고딕"/>
              </a:rPr>
              <a:t>26Y 증감률 (전년比)</a:t>
            </a:r>
          </a:p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맑은 고딕"/>
                <a:ea typeface="맑은 고딕"/>
              </a:rPr>
              <a:t>+46.7%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FFC07A"/>
                </a:solidFill>
                <a:latin typeface="맑은 고딕"/>
                <a:ea typeface="맑은 고딕"/>
              </a:rPr>
              <a:t>사업 확장 대폭 반영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977639" y="1554480"/>
          <a:ext cx="7680957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4896"/>
                <a:gridCol w="1786269"/>
                <a:gridCol w="1518329"/>
                <a:gridCol w="1518329"/>
                <a:gridCol w="893134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수량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25Y 금액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26Y 금액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Renewal (기존 갱신)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148명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57,808,800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57,808,800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동결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True-up (추가 구매)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24Y 68명 · 25Y 214명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69,585,600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129,099,600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+85.5%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EA 소계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300EA → 430EA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127,394,400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12314E"/>
                          </a:solidFill>
                          <a:latin typeface="맑은 고딕"/>
                          <a:ea typeface="맑은 고딕"/>
                        </a:rPr>
                        <a:t>186,908,400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+46.7%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02920" y="3931920"/>
            <a:ext cx="11155680" cy="4572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25Y → 26Y 비용 변동 사유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389120"/>
            <a:ext cx="11155680" cy="1874519"/>
          </a:xfrm>
          <a:prstGeom prst="rect">
            <a:avLst/>
          </a:prstGeom>
          <a:solidFill>
            <a:srgbClr val="F2F7FC"/>
          </a:solidFill>
          <a:ln w="9525">
            <a:solidFill>
              <a:srgbClr val="DEEB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572000"/>
            <a:ext cx="106070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12121"/>
                </a:solidFill>
                <a:latin typeface="맑은 고딕"/>
                <a:ea typeface="맑은 고딕"/>
              </a:rPr>
              <a:t>·  Renewal 148명 금액은 전년과 동일하게 전액 동결되었습니다.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12121"/>
                </a:solidFill>
                <a:latin typeface="맑은 고딕"/>
                <a:ea typeface="맑은 고딕"/>
              </a:rPr>
              <a:t>·  증가분 59,514,000원은 전액 25년 True-up 214명의 신규 정산분입니다. 사업 확장에 따른 대규모 인력 확충이 그대로 반영된 결과로, 조직 성장을 보여주는 지표입니다.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12121"/>
                </a:solidFill>
                <a:latin typeface="맑은 고딕"/>
                <a:ea typeface="맑은 고딕"/>
              </a:rPr>
              <a:t>·  26Y 기준 총 430EA로 전년 대비 43% 이상 규모가 확대되어, 성장 단계에 맞는 표준화된 업무 환경 확보가 더욱 중요해졌습니다.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맑은 고딕"/>
                <a:ea typeface="맑은 고딕"/>
              </a:rPr>
              <a:t>08. 증감 요인 분석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8755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맑은 고딕"/>
                <a:ea typeface="맑은 고딕"/>
              </a:rPr>
              <a:t>26Y 증가액 111,676,600원의 구성 — Renewal 0원, True-up 100% (단위: 원, VAT 별도)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맑은 고딕"/>
                <a:ea typeface="맑은 고딕"/>
              </a:rPr>
              <a:t>동아그룹 Microsoft EA 라이선스 갱신 제안서  |  2026.02.06 ~ 2028.02.05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595959"/>
                </a:solidFill>
                <a:latin typeface="맑은 고딕"/>
                <a:ea typeface="맑은 고딕"/>
              </a:rPr>
              <a:t>10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600200"/>
          <a:ext cx="11155678" cy="2121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0177"/>
                <a:gridCol w="2303890"/>
                <a:gridCol w="2303890"/>
                <a:gridCol w="2303890"/>
                <a:gridCol w="1333831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증감액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비중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Renewal 합계 (4사)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747,999,000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747,999,000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2E75B6"/>
                          </a:solidFill>
                          <a:latin typeface="맑은 고딕"/>
                          <a:ea typeface="맑은 고딕"/>
                        </a:rPr>
                        <a:t>동결 (0)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True-up 합계 (4사)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186,198,600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297,875,200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+111,676,600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100%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합계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934,197,600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12314E"/>
                          </a:solidFill>
                          <a:latin typeface="맑은 고딕"/>
                          <a:ea typeface="맑은 고딕"/>
                        </a:rPr>
                        <a:t>1,045,874,200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+111,676,600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+12.0%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02920" y="3977639"/>
            <a:ext cx="11155680" cy="457200"/>
          </a:xfrm>
          <a:prstGeom prst="rect">
            <a:avLst/>
          </a:prstGeom>
          <a:solidFill>
            <a:srgbClr val="123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977639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25년 True-up 신규 인원 구성 — 총 404명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572000"/>
            <a:ext cx="265176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709160"/>
            <a:ext cx="23774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314E"/>
                </a:solidFill>
                <a:latin typeface="맑은 고딕"/>
                <a:ea typeface="맑은 고딕"/>
              </a:rPr>
              <a:t>에스티젠바이오</a:t>
            </a:r>
          </a:p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E86C1A"/>
                </a:solidFill>
                <a:latin typeface="맑은 고딕"/>
                <a:ea typeface="맑은 고딕"/>
              </a:rPr>
              <a:t>214명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95959"/>
                </a:solidFill>
                <a:latin typeface="맑은 고딕"/>
                <a:ea typeface="맑은 고딕"/>
              </a:rPr>
              <a:t>사업 확장에 따른 대규모 인력 확충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46704" y="4572000"/>
            <a:ext cx="265176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83864" y="4709160"/>
            <a:ext cx="23774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314E"/>
                </a:solidFill>
                <a:latin typeface="맑은 고딕"/>
                <a:ea typeface="맑은 고딕"/>
              </a:rPr>
              <a:t>동아에스티</a:t>
            </a:r>
          </a:p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E86C1A"/>
                </a:solidFill>
                <a:latin typeface="맑은 고딕"/>
                <a:ea typeface="맑은 고딕"/>
              </a:rPr>
              <a:t>168명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95959"/>
                </a:solidFill>
                <a:latin typeface="맑은 고딕"/>
                <a:ea typeface="맑은 고딕"/>
              </a:rPr>
              <a:t>사업 성장에 따른 임직원 증가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0488" y="4572000"/>
            <a:ext cx="265176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27648" y="4709160"/>
            <a:ext cx="23774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314E"/>
                </a:solidFill>
                <a:latin typeface="맑은 고딕"/>
                <a:ea typeface="맑은 고딕"/>
              </a:rPr>
              <a:t>동아제약</a:t>
            </a:r>
          </a:p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E86C1A"/>
                </a:solidFill>
                <a:latin typeface="맑은 고딕"/>
                <a:ea typeface="맑은 고딕"/>
              </a:rPr>
              <a:t>22명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95959"/>
                </a:solidFill>
                <a:latin typeface="맑은 고딕"/>
                <a:ea typeface="맑은 고딕"/>
              </a:rPr>
              <a:t>실사용 증가분 반영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34272" y="4572000"/>
            <a:ext cx="265176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71432" y="4709160"/>
            <a:ext cx="23774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314E"/>
                </a:solidFill>
                <a:latin typeface="맑은 고딕"/>
                <a:ea typeface="맑은 고딕"/>
              </a:rPr>
              <a:t>동아쏘시오홀딩스</a:t>
            </a:r>
          </a:p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595959"/>
                </a:solidFill>
                <a:latin typeface="맑은 고딕"/>
                <a:ea typeface="맑은 고딕"/>
              </a:rPr>
              <a:t>0명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95959"/>
                </a:solidFill>
                <a:latin typeface="맑은 고딕"/>
                <a:ea typeface="맑은 고딕"/>
              </a:rPr>
              <a:t>인원 변동 없음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맑은 고딕"/>
                <a:ea typeface="맑은 고딕"/>
              </a:rPr>
              <a:t>09. 계약 조건 및 향후 일정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맑은 고딕"/>
                <a:ea typeface="맑은 고딕"/>
              </a:rPr>
              <a:t>동아그룹 Microsoft EA 라이선스 갱신 제안서  |  2026.02.06 ~ 2028.02.05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595959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63040"/>
            <a:ext cx="5486400" cy="457200"/>
          </a:xfrm>
          <a:prstGeom prst="rect">
            <a:avLst/>
          </a:prstGeom>
          <a:solidFill>
            <a:srgbClr val="123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계약 조건 요약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920240"/>
          <a:ext cx="548639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3647"/>
                <a:gridCol w="3872752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계약기간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2026. 02. 06 ~ 2028. 02. 05 (3년 차 갱신)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Renewal 단가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390,600원/명 — 전년 동결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True-up 단가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457,800원/명 — 연 1회 정산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부가세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별도 (VAT 미포함 금액 기준)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26Y 계약 총액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1,045,874,200원 (4사 합계)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46520" y="1463040"/>
            <a:ext cx="5212080" cy="457200"/>
          </a:xfrm>
          <a:prstGeom prst="rect">
            <a:avLst/>
          </a:prstGeom>
          <a:solidFill>
            <a:srgbClr val="123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46304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향후 진행 일정 (제안)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46520" y="2057400"/>
            <a:ext cx="1005840" cy="54864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057400"/>
            <a:ext cx="1005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맑은 고딕"/>
                <a:ea typeface="맑은 고딕"/>
              </a:rPr>
              <a:t>STEP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2057400"/>
            <a:ext cx="40233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12121"/>
                </a:solidFill>
                <a:latin typeface="맑은 고딕"/>
                <a:ea typeface="맑은 고딕"/>
              </a:rPr>
              <a:t>제안서 검토 및 회사별 수량 확정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46520" y="2770632"/>
            <a:ext cx="1005840" cy="54864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2770632"/>
            <a:ext cx="1005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맑은 고딕"/>
                <a:ea typeface="맑은 고딕"/>
              </a:rPr>
              <a:t>STEP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2770632"/>
            <a:ext cx="40233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12121"/>
                </a:solidFill>
                <a:latin typeface="맑은 고딕"/>
                <a:ea typeface="맑은 고딕"/>
              </a:rPr>
              <a:t>견적 확정 및 내부 품의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6520" y="3483864"/>
            <a:ext cx="1005840" cy="54864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483864"/>
            <a:ext cx="1005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맑은 고딕"/>
                <a:ea typeface="맑은 고딕"/>
              </a:rPr>
              <a:t>STEP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3483864"/>
            <a:ext cx="40233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12121"/>
                </a:solidFill>
                <a:latin typeface="맑은 고딕"/>
                <a:ea typeface="맑은 고딕"/>
              </a:rPr>
              <a:t>계약 체결 (2026. 02. 06 발효)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46520" y="4197096"/>
            <a:ext cx="1005840" cy="54864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197096"/>
            <a:ext cx="1005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맑은 고딕"/>
                <a:ea typeface="맑은 고딕"/>
              </a:rPr>
              <a:t>STEP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40" y="4197096"/>
            <a:ext cx="40233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12121"/>
                </a:solidFill>
                <a:latin typeface="맑은 고딕"/>
                <a:ea typeface="맑은 고딕"/>
              </a:rPr>
              <a:t>라이선스 갱신 적용 및 연중 True-up 관리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5074920"/>
            <a:ext cx="11155680" cy="1097280"/>
          </a:xfrm>
          <a:prstGeom prst="rect">
            <a:avLst/>
          </a:prstGeom>
          <a:solidFill>
            <a:srgbClr val="F2F7FC"/>
          </a:solidFill>
          <a:ln w="9525">
            <a:solidFill>
              <a:srgbClr val="DEEB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23036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12314E"/>
                </a:solidFill>
                <a:latin typeface="맑은 고딕"/>
                <a:ea typeface="맑은 고딕"/>
              </a:rPr>
              <a:t>지원 사항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12121"/>
                </a:solidFill>
                <a:latin typeface="맑은 고딕"/>
                <a:ea typeface="맑은 고딕"/>
              </a:rPr>
              <a:t>· 계약 기간 중 라이선스 컴플라이언스 점검, True-up 수량 관리, 전담 담당자를 통한 기술·구매 문의 대응을 지원합니다.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91695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맑은 고딕"/>
                <a:ea typeface="맑은 고딕"/>
              </a:rP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103327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BDD7EE"/>
                </a:solidFill>
                <a:latin typeface="맑은 고딕"/>
                <a:ea typeface="맑은 고딕"/>
              </a:rPr>
              <a:t>동아그룹 4개사의 안정적인 Microsoft 업무 환경과 사업 성장을 계속 지원하겠습니다.</a:t>
            </a:r>
          </a:p>
          <a:p>
            <a:pPr algn="l">
              <a:spcAft>
                <a:spcPts val="1000"/>
              </a:spcAft>
            </a:pPr>
            <a:r>
              <a:rPr sz="1100" b="0" i="0">
                <a:solidFill>
                  <a:srgbClr val="8EA9C1"/>
                </a:solidFill>
                <a:latin typeface="맑은 고딕"/>
                <a:ea typeface="맑은 고딕"/>
              </a:rPr>
              <a:t>본 제안서의 금액은 부가세 별도 기준이며, 최종 수량 확정 시 일부 조정될 수 있습니다.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