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9DC3E6"/>
                </a:solidFill>
                <a:latin typeface="맑은 고딕"/>
                <a:ea typeface="맑은 고딕"/>
              </a:rPr>
              <a:t>Microsoft Enterprise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동아그룹 주요 4개사</a:t>
            </a:r>
          </a:p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Microsoft EA 라이선스 갱신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DD7EE"/>
                </a:solidFill>
                <a:latin typeface="맑은 고딕"/>
                <a:ea typeface="맑은 고딕"/>
              </a:rPr>
              <a:t>지난 3년간 쌓아온 신뢰를 바탕으로, 다음 성장 단계까지 함께하겠습니다.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계약기간  |  2026. 02. 06 ~ 2028. 02. 05 (3년 차 갱신)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BDD7EE"/>
                </a:solidFill>
                <a:latin typeface="맑은 고딕"/>
                <a:ea typeface="맑은 고딕"/>
              </a:rPr>
              <a:t>대상  |  동아쏘시오홀딩스㈜ · 동아에스티㈜ · 동아제약㈜ · 에스티젠바이오㈜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8EA9C1"/>
                </a:solidFill>
                <a:latin typeface="맑은 고딕"/>
                <a:ea typeface="맑은 고딕"/>
              </a:rPr>
              <a:t>2026년 7월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목차 (Contents)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동아그룹 Microsoft EA 라이선스 갱신 제안서  |  2026.02.06 ~ 2028.02.05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685800" cy="6858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554480"/>
            <a:ext cx="4572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12121"/>
                </a:solidFill>
                <a:latin typeface="맑은 고딕"/>
                <a:ea typeface="맑은 고딕"/>
              </a:rPr>
              <a:t>제안 개요 (Executive Summary)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68880"/>
            <a:ext cx="685800" cy="6858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572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12121"/>
                </a:solidFill>
                <a:latin typeface="맑은 고딕"/>
                <a:ea typeface="맑은 고딕"/>
              </a:rPr>
              <a:t>EA 계약 구조 및 단가 기준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383280"/>
            <a:ext cx="685800" cy="6858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383280"/>
            <a:ext cx="4572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12121"/>
                </a:solidFill>
                <a:latin typeface="맑은 고딕"/>
                <a:ea typeface="맑은 고딕"/>
              </a:rPr>
              <a:t>주요 4사 요약 비교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97680"/>
            <a:ext cx="685800" cy="6858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97680"/>
            <a:ext cx="4572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12121"/>
                </a:solidFill>
                <a:latin typeface="맑은 고딕"/>
                <a:ea typeface="맑은 고딕"/>
              </a:rPr>
              <a:t>회사별 제안 — 동아쏘시오홀딩스㈜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212080"/>
            <a:ext cx="685800" cy="6858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212080"/>
            <a:ext cx="4572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12121"/>
                </a:solidFill>
                <a:latin typeface="맑은 고딕"/>
                <a:ea typeface="맑은 고딕"/>
              </a:rPr>
              <a:t>회사별 제안 — 동아에스티㈜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554480"/>
            <a:ext cx="685800" cy="6858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5544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1554480"/>
            <a:ext cx="4572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12121"/>
                </a:solidFill>
                <a:latin typeface="맑은 고딕"/>
                <a:ea typeface="맑은 고딕"/>
              </a:rPr>
              <a:t>회사별 제안 — 동아제약㈜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468880"/>
            <a:ext cx="685800" cy="6858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4688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468880"/>
            <a:ext cx="4572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12121"/>
                </a:solidFill>
                <a:latin typeface="맑은 고딕"/>
                <a:ea typeface="맑은 고딕"/>
              </a:rPr>
              <a:t>회사별 제안 — 에스티젠바이오㈜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383280"/>
            <a:ext cx="685800" cy="6858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3832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383280"/>
            <a:ext cx="4572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12121"/>
                </a:solidFill>
                <a:latin typeface="맑은 고딕"/>
                <a:ea typeface="맑은 고딕"/>
              </a:rPr>
              <a:t>증감 요인 분석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297680"/>
            <a:ext cx="685800" cy="6858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2976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4297680"/>
            <a:ext cx="4572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12121"/>
                </a:solidFill>
                <a:latin typeface="맑은 고딕"/>
                <a:ea typeface="맑은 고딕"/>
              </a:rPr>
              <a:t>계약 조건 및 향후 일정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01. 제안 개요 (Executive Summary)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</a:rPr>
              <a:t>Microsoft EA 3년 차 갱신 — Renewal 전액 동결, 증가분은 전액 사업 성장(True-up)에 기인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동아그룹 Microsoft EA 라이선스 갱신 제안서  |  2026.02.06 ~ 2028.02.05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120640" cy="45720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계약 개요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74519"/>
          <a:ext cx="5120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8404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계약 유형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Microsoft EA (Enterprise Agreement) 3년 차 갱신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계약기간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2026. 02. 06 ~ 2028. 02. 05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대상 법인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동아쏘시오홀딩스, 동아에스티, 동아제약, 에스티젠바이오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단가 기준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Renewal 390,600원/명 · True-up 457,800원/명 (VAT 별도)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989320" y="1417320"/>
            <a:ext cx="5669280" cy="2834640"/>
          </a:xfrm>
          <a:prstGeom prst="rect">
            <a:avLst/>
          </a:prstGeom>
          <a:solidFill>
            <a:srgbClr val="F2F7FC"/>
          </a:solidFill>
          <a:ln w="9525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5029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주요 4사 EA 합계 (VAT 별도)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595959"/>
                </a:solidFill>
                <a:latin typeface="맑은 고딕"/>
                <a:ea typeface="맑은 고딕"/>
              </a:rPr>
              <a:t>25Y  934,197,600원</a:t>
            </a:r>
          </a:p>
          <a:p>
            <a:pPr algn="l">
              <a:spcAft>
                <a:spcPts val="1200"/>
              </a:spcAft>
            </a:pPr>
            <a:r>
              <a:rPr sz="2800" b="1" i="0">
                <a:solidFill>
                  <a:srgbClr val="12314E"/>
                </a:solidFill>
                <a:latin typeface="맑은 고딕"/>
                <a:ea typeface="맑은 고딕"/>
              </a:rPr>
              <a:t>26Y  1,045,874,200원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E86C1A"/>
                </a:solidFill>
                <a:latin typeface="맑은 고딕"/>
                <a:ea typeface="맑은 고딕"/>
              </a:rPr>
              <a:t>전년 대비 +12.0%  (증가액 111,676,600원)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52628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526280"/>
            <a:ext cx="36118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526280"/>
            <a:ext cx="3246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Renewal 100% 동결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2064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12121"/>
                </a:solidFill>
                <a:latin typeface="맑은 고딕"/>
                <a:ea typeface="맑은 고딕"/>
              </a:rPr>
              <a:t>4개사 전 인원의 갱신 단가·금액이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12121"/>
                </a:solidFill>
                <a:latin typeface="맑은 고딕"/>
                <a:ea typeface="맑은 고딕"/>
              </a:rPr>
              <a:t>전년과 동일 — 예산 변동 리스크 없음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5112" y="452628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5112" y="4526280"/>
            <a:ext cx="36118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4526280"/>
            <a:ext cx="3246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증가분 = 100% True-up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512064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12121"/>
                </a:solidFill>
                <a:latin typeface="맑은 고딕"/>
                <a:ea typeface="맑은 고딕"/>
              </a:rPr>
              <a:t>26Y 증가액 1.1억원은 전액 신규 인원 정산분,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12121"/>
                </a:solidFill>
                <a:latin typeface="맑은 고딕"/>
                <a:ea typeface="맑은 고딕"/>
              </a:rPr>
              <a:t>계약 단가 인상 요인은 전혀 없음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7304" y="452628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47304" y="4526280"/>
            <a:ext cx="36118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4526280"/>
            <a:ext cx="3246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성장이 만든 증가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512064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12121"/>
                </a:solidFill>
                <a:latin typeface="맑은 고딕"/>
                <a:ea typeface="맑은 고딕"/>
              </a:rPr>
              <a:t>동아에스티 +168명 · 에스티젠바이오 +214명,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12121"/>
                </a:solidFill>
                <a:latin typeface="맑은 고딕"/>
                <a:ea typeface="맑은 고딕"/>
              </a:rPr>
              <a:t>사업 확장이 낳은 자연스러운 결과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02. EA 계약 구조 및 단가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</a:rPr>
              <a:t>Enterprise Agreement — 3년 약정 볼륨 라이선스, 연 단위 정산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동아그룹 Microsoft EA 라이선스 갱신 제안서  |  2026.02.06 ~ 2028.02.05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6692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5669280" cy="566928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Renewal (기존 갱신)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E75B6"/>
                </a:solidFill>
                <a:latin typeface="맑은 고딕"/>
                <a:ea typeface="맑은 고딕"/>
              </a:rPr>
              <a:t>390,600원 / 명 (VAT 별도)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5212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EA 등록 기준 인원에 대한 연간 갱신 금액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약정 단가로 3년간 안정적 예산 운영 가능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금회 갱신 시 4개사 전체 단가·금액 동결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00200"/>
            <a:ext cx="56692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00200"/>
            <a:ext cx="5669280" cy="566928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600200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True-up (추가 구매)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3317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E75B6"/>
                </a:solidFill>
                <a:latin typeface="맑은 고딕"/>
                <a:ea typeface="맑은 고딕"/>
              </a:rPr>
              <a:t>457,800원 / 명 (VAT 별도)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926080"/>
            <a:ext cx="5212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연중 증가한 사용 인원을 연 1회 일괄 정산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선구매 부담 없이 실제 증가분만 사후 반영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차년도부터 Renewal 기준 수량에 편입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983480"/>
            <a:ext cx="11155680" cy="1188720"/>
          </a:xfrm>
          <a:prstGeom prst="rect">
            <a:avLst/>
          </a:prstGeom>
          <a:solidFill>
            <a:srgbClr val="F2F7FC"/>
          </a:solidFill>
          <a:ln w="9525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2314E"/>
                </a:solidFill>
                <a:latin typeface="맑은 고딕"/>
                <a:ea typeface="맑은 고딕"/>
              </a:rPr>
              <a:t>EA 정산 사이클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계약 발효 (매년 2/6)  →  연중 사용 인원 증가  →  연 1회 True-up 정산  →  차기 연도 Renewal 수량 반영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03. 주요 4사 요약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</a:rPr>
              <a:t>25Y 대비 26Y EA 비용 비교 — 증가분은 전액 True-up(신규 인원) 반영분 (단위: 원, VAT 별도)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동아그룹 Microsoft EA 라이선스 갱신 제안서  |  2026.02.06 ~ 2028.02.05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00200"/>
          <a:ext cx="11155676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432"/>
                <a:gridCol w="1772397"/>
                <a:gridCol w="1772397"/>
                <a:gridCol w="1668139"/>
                <a:gridCol w="1042586"/>
                <a:gridCol w="2710725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25Y 금액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26Y 금액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증감액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증감률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주요 사유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동아쏘시오홀딩스㈜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36,204,000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36,204,000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전년 동결 (인원 변동 없음)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동아에스티㈜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494,797,800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539,788,200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+44,990,400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+9.1%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25년 True-up 168명 추가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동아제약㈜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275,801,400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282,973,600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+7,172,200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+2.6%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25년 True-up 22명 추가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에스티젠바이오㈜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127,394,400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186,908,400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+59,514,000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+46.7%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사업 확장, True-up 214명 대폭 추가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934,197,600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2314E"/>
                          </a:solidFill>
                          <a:latin typeface="맑은 고딕"/>
                          <a:ea typeface="맑은 고딕"/>
                        </a:rPr>
                        <a:t>1,045,874,200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+111,676,600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+12.0%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029200"/>
            <a:ext cx="11155680" cy="1143000"/>
          </a:xfrm>
          <a:prstGeom prst="rect">
            <a:avLst/>
          </a:prstGeom>
          <a:solidFill>
            <a:srgbClr val="F2F7FC"/>
          </a:solidFill>
          <a:ln w="9525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93792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2314E"/>
                </a:solidFill>
                <a:latin typeface="맑은 고딕"/>
                <a:ea typeface="맑은 고딕"/>
              </a:rPr>
              <a:t>핵심 요약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12121"/>
                </a:solidFill>
                <a:latin typeface="맑은 고딕"/>
                <a:ea typeface="맑은 고딕"/>
              </a:rPr>
              <a:t>· 4개사 모두 Renewal(기존 인원)은 전년 금액 그대로 동결되었으며, 증가액 111,676,600원은 전액 25년 True-up 404명(동아에스티 168 · 동아제약 22 · 에스티젠바이오 214)의 신규 정산분입니다.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04. 회사별 제안 — 동아쏘시오홀딩스㈜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</a:rPr>
              <a:t>그룹 지주회사 — 인원 변동 없이 기존 계약 조건 그대로 유지 (단위: 원, VAT 별도)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동아그룹 Microsoft EA 라이선스 갱신 제안서  |  2026.02.06 ~ 2028.02.05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200400" cy="173736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651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DD7EE"/>
                </a:solidFill>
                <a:latin typeface="맑은 고딕"/>
                <a:ea typeface="맑은 고딕"/>
              </a:rPr>
              <a:t>26Y 증감률 (전년比)</a:t>
            </a:r>
          </a:p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0%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C07A"/>
                </a:solidFill>
                <a:latin typeface="맑은 고딕"/>
                <a:ea typeface="맑은 고딕"/>
              </a:rPr>
              <a:t>전년 동결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77639" y="1554480"/>
          <a:ext cx="768095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896"/>
                <a:gridCol w="1786269"/>
                <a:gridCol w="1518329"/>
                <a:gridCol w="1518329"/>
                <a:gridCol w="893134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수량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25Y 금액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26Y 금액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Renewal (기존 갱신)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88명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34,372,800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34,372,800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True-up (추가 구매)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24Y 4명 · 25Y 0명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1,831,200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1,831,200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EA 소계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36,204,000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2314E"/>
                          </a:solidFill>
                          <a:latin typeface="맑은 고딕"/>
                          <a:ea typeface="맑은 고딕"/>
                        </a:rPr>
                        <a:t>36,204,000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3931920"/>
            <a:ext cx="111556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25Y → 26Y 비용 변동 사유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389120"/>
            <a:ext cx="11155680" cy="1874519"/>
          </a:xfrm>
          <a:prstGeom prst="rect">
            <a:avLst/>
          </a:prstGeom>
          <a:solidFill>
            <a:srgbClr val="F2F7FC"/>
          </a:solidFill>
          <a:ln w="9525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Renewal 88명과 기존 True-up 4명(24년) 모두 전년과 동일한 조건으로 유지되어 26Y 금액이 100% 동결됩니다.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25년 한 해 신규 True-up 인원이 발생하지 않아, 지주회사의 안정적인 조직 운영 기조를 그대로 보여줍니다.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3년 차 갱신에도 단가 인상 없이 기존 조건이 이어져, 예측 가능한 IT 예산 운영이 가능합니다.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05. 회사별 제안 — 동아에스티㈜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</a:rPr>
              <a:t>전문의약품 사업 성장 — 25년 True-up 168명 추가 반영 (단위: 원, VAT 별도)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동아그룹 Microsoft EA 라이선스 갱신 제안서  |  2026.02.06 ~ 2028.02.05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200400" cy="173736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651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DD7EE"/>
                </a:solidFill>
                <a:latin typeface="맑은 고딕"/>
                <a:ea typeface="맑은 고딕"/>
              </a:rPr>
              <a:t>26Y 증감률 (전년比)</a:t>
            </a:r>
          </a:p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+9.1%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C07A"/>
                </a:solidFill>
                <a:latin typeface="맑은 고딕"/>
                <a:ea typeface="맑은 고딕"/>
              </a:rPr>
              <a:t>사업 확장 반영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77639" y="1554480"/>
          <a:ext cx="768095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896"/>
                <a:gridCol w="1786269"/>
                <a:gridCol w="1518329"/>
                <a:gridCol w="1518329"/>
                <a:gridCol w="893134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수량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25Y 금액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26Y 금액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Renewal (기존 갱신)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1,103명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430,831,800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430,831,800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True-up (추가 구매)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24Y 70명 · 25Y 168명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63,966,000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108,956,400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+70.3%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EA 소계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1,249EA → 1,341EA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494,797,800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2314E"/>
                          </a:solidFill>
                          <a:latin typeface="맑은 고딕"/>
                          <a:ea typeface="맑은 고딕"/>
                        </a:rPr>
                        <a:t>539,788,200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+9.1%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3931920"/>
            <a:ext cx="111556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25Y → 26Y 비용 변동 사유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389120"/>
            <a:ext cx="11155680" cy="1874519"/>
          </a:xfrm>
          <a:prstGeom prst="rect">
            <a:avLst/>
          </a:prstGeom>
          <a:solidFill>
            <a:srgbClr val="F2F7FC"/>
          </a:solidFill>
          <a:ln w="9525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Renewal 1,103명 금액은 전년과 동일하게 전액 동결되어, 기존 라이선스 비용 부담은 그대로입니다.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26Y 증가액 44,990,400원은 100% 25년 True-up 168명의 신규 정산분 — 비용 인상이 아니라 임직원 증가에 따른 사업 확장의 결과입니다.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26Y 기준 총 1,341EA로 확대되어, 성장하는 조직 전체에 전사 표준 협업 환경을 빠짐없이 확장 적용합니다.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06. 회사별 제안 — 동아제약㈜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</a:rPr>
              <a:t>일반의약품·컨슈머헬스케어 — 25년 True-up 22명 추가 반영 (단위: 원, VAT 별도)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동아그룹 Microsoft EA 라이선스 갱신 제안서  |  2026.02.06 ~ 2028.02.05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200400" cy="173736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651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DD7EE"/>
                </a:solidFill>
                <a:latin typeface="맑은 고딕"/>
                <a:ea typeface="맑은 고딕"/>
              </a:rPr>
              <a:t>26Y 증감률 (전년比)</a:t>
            </a:r>
          </a:p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+2.6%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C07A"/>
                </a:solidFill>
                <a:latin typeface="맑은 고딕"/>
                <a:ea typeface="맑은 고딕"/>
              </a:rPr>
              <a:t>소폭 증가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77639" y="1554480"/>
          <a:ext cx="768095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896"/>
                <a:gridCol w="1786269"/>
                <a:gridCol w="1518329"/>
                <a:gridCol w="1518329"/>
                <a:gridCol w="893134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수량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25Y 금액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26Y 금액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Renewal (기존 갱신)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576명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224,985,600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224,985,600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True-up (추가 구매)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24Y 111명 · 25Y 22명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50,815,800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57,988,000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+14.1%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EA 소계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687EA → 709EA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275,801,400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2314E"/>
                          </a:solidFill>
                          <a:latin typeface="맑은 고딕"/>
                          <a:ea typeface="맑은 고딕"/>
                        </a:rPr>
                        <a:t>282,973,600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+2.6%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3931920"/>
            <a:ext cx="111556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25Y → 26Y 비용 변동 사유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389120"/>
            <a:ext cx="11155680" cy="1874519"/>
          </a:xfrm>
          <a:prstGeom prst="rect">
            <a:avLst/>
          </a:prstGeom>
          <a:solidFill>
            <a:srgbClr val="F2F7FC"/>
          </a:solidFill>
          <a:ln w="9525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Renewal 576명 금액은 전년과 동일하게 전액 동결되어, 기존 계약 조건에는 변동이 없습니다.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26Y 증가액 7,172,200원은 25년 True-up 22명의 신규 정산분으로, 실사용 증가분만 최소 수준으로 반영되었습니다.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26Y 기준 총 709EA로, 전년 대비 2.6%의 안정적인 증가 흐름을 유지합니다.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07. 회사별 제안 — 에스티젠바이오㈜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</a:rPr>
              <a:t>바이오의약품 사업 확장 — 25년 True-up 214명 대폭 추가 (단위: 원, VAT 별도)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동아그룹 Microsoft EA 라이선스 갱신 제안서  |  2026.02.06 ~ 2028.02.05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200400" cy="173736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651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DD7EE"/>
                </a:solidFill>
                <a:latin typeface="맑은 고딕"/>
                <a:ea typeface="맑은 고딕"/>
              </a:rPr>
              <a:t>26Y 증감률 (전년比)</a:t>
            </a:r>
          </a:p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+46.7%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C07A"/>
                </a:solidFill>
                <a:latin typeface="맑은 고딕"/>
                <a:ea typeface="맑은 고딕"/>
              </a:rPr>
              <a:t>사업 확장 대폭 반영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77639" y="1554480"/>
          <a:ext cx="768095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896"/>
                <a:gridCol w="1786269"/>
                <a:gridCol w="1518329"/>
                <a:gridCol w="1518329"/>
                <a:gridCol w="893134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수량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25Y 금액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26Y 금액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Renewal (기존 갱신)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148명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57,808,800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57,808,800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True-up (추가 구매)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24Y 68명 · 25Y 214명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69,585,600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129,099,600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+85.5%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EA 소계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300EA → 430EA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127,394,400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2314E"/>
                          </a:solidFill>
                          <a:latin typeface="맑은 고딕"/>
                          <a:ea typeface="맑은 고딕"/>
                        </a:rPr>
                        <a:t>186,908,400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+46.7%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3931920"/>
            <a:ext cx="111556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25Y → 26Y 비용 변동 사유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389120"/>
            <a:ext cx="11155680" cy="1874519"/>
          </a:xfrm>
          <a:prstGeom prst="rect">
            <a:avLst/>
          </a:prstGeom>
          <a:solidFill>
            <a:srgbClr val="F2F7FC"/>
          </a:solidFill>
          <a:ln w="9525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Renewal 148명 금액은 전년과 동일하게 전액 동결되어, 기존 계약 조건에는 변동이 없습니다.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26Y 증가액 59,514,000원은 100% 25년 True-up 214명의 신규 정산분 — 바이오의약품 사업의 본격적인 확장과 대규모 채용이 만들어낸 결과입니다.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12121"/>
                </a:solidFill>
                <a:latin typeface="맑은 고딕"/>
                <a:ea typeface="맑은 고딕"/>
              </a:rPr>
              <a:t>·  26Y 기준 총 430EA로 전년 대비 43% 이상 확대되어, 4개사 중 가장 가파른 성장세를 보여줍니다.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08. 증감 요인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</a:rPr>
              <a:t>26Y 증가액 111,676,600원의 구성 — Renewal 0원, True-up 100% (단위: 원, VAT 별도)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동아그룹 Microsoft EA 라이선스 갱신 제안서  |  2026.02.06 ~ 2028.02.05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00200"/>
          <a:ext cx="11155678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177"/>
                <a:gridCol w="2303890"/>
                <a:gridCol w="2303890"/>
                <a:gridCol w="2303890"/>
                <a:gridCol w="1333831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증감액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비중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Renewal 합계 (4사)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747,999,000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747,999,000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</a:rPr>
                        <a:t>동결 (0)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True-up 합계 (4사)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186,198,600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297,875,200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+111,676,600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934,197,600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2314E"/>
                          </a:solidFill>
                          <a:latin typeface="맑은 고딕"/>
                          <a:ea typeface="맑은 고딕"/>
                        </a:rPr>
                        <a:t>1,045,874,200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+111,676,600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+12.0%</a:t>
                      </a:r>
                    </a:p>
                  </a:txBody>
                  <a:tcPr anchor="ctr" marL="73152" marR="73152" marT="18288" marB="18288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3977639"/>
            <a:ext cx="11155680" cy="45720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25년 True-up 신규 인원 구성 — 총 404명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7200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2314E"/>
                </a:solidFill>
                <a:latin typeface="맑은 고딕"/>
                <a:ea typeface="맑은 고딕"/>
              </a:rPr>
              <a:t>에스티젠바이오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86C1A"/>
                </a:solidFill>
                <a:latin typeface="맑은 고딕"/>
                <a:ea typeface="맑은 고딕"/>
              </a:rPr>
              <a:t>214명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사업 확장에 따른 대규모 인력 확충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6704" y="457200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4709160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2314E"/>
                </a:solidFill>
                <a:latin typeface="맑은 고딕"/>
                <a:ea typeface="맑은 고딕"/>
              </a:rPr>
              <a:t>동아에스티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86C1A"/>
                </a:solidFill>
                <a:latin typeface="맑은 고딕"/>
                <a:ea typeface="맑은 고딕"/>
              </a:rPr>
              <a:t>168명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사업 성장에 따른 임직원 증가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457200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4709160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2314E"/>
                </a:solidFill>
                <a:latin typeface="맑은 고딕"/>
                <a:ea typeface="맑은 고딕"/>
              </a:rPr>
              <a:t>동아제약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86C1A"/>
                </a:solidFill>
                <a:latin typeface="맑은 고딕"/>
                <a:ea typeface="맑은 고딕"/>
              </a:rPr>
              <a:t>22명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실사용 증가분 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4272" y="457200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4709160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2314E"/>
                </a:solidFill>
                <a:latin typeface="맑은 고딕"/>
                <a:ea typeface="맑은 고딕"/>
              </a:rPr>
              <a:t>동아쏘시오홀딩스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595959"/>
                </a:solidFill>
                <a:latin typeface="맑은 고딕"/>
                <a:ea typeface="맑은 고딕"/>
              </a:rPr>
              <a:t>0명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인원 변동 없음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09. 계약 조건 및 향후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동아그룹 Microsoft EA 라이선스 갱신 제안서  |  2026.02.06 ~ 2028.02.05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5486400" cy="45720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계약 조건 요약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920240"/>
          <a:ext cx="54863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647"/>
                <a:gridCol w="387275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 marL="73152" marR="73152" marT="18288" marB="18288">
                    <a:solidFill>
                      <a:srgbClr val="12314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계약기간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2026. 02. 06 ~ 2028. 02. 05 (3년 차 갱신)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Renewal 단가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390,600원/명 — 전년 동결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True-up 단가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457,800원/명 — 연 1회 정산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부가세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별도 (VAT 미포함 금액 기준)</a:t>
                      </a:r>
                    </a:p>
                  </a:txBody>
                  <a:tcPr anchor="ctr" marL="73152" marR="73152" marT="18288" marB="18288">
                    <a:solidFill>
                      <a:srgbClr val="F2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26Y 계약 총액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</a:rPr>
                        <a:t>1,045,874,200원 (4사 합계)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46520" y="1463040"/>
            <a:ext cx="5212080" cy="45720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6304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향후 진행 일정 (제안)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057400"/>
            <a:ext cx="1005840" cy="54864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맑은 고딕"/>
                <a:ea typeface="맑은 고딕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057400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121"/>
                </a:solidFill>
                <a:latin typeface="맑은 고딕"/>
                <a:ea typeface="맑은 고딕"/>
              </a:rPr>
              <a:t>제안서 검토 및 회사별 수량 확정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770632"/>
            <a:ext cx="1005840" cy="54864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770632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맑은 고딕"/>
                <a:ea typeface="맑은 고딕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770632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121"/>
                </a:solidFill>
                <a:latin typeface="맑은 고딕"/>
                <a:ea typeface="맑은 고딕"/>
              </a:rPr>
              <a:t>견적 확정 및 내부 품의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3483864"/>
            <a:ext cx="1005840" cy="54864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48386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맑은 고딕"/>
                <a:ea typeface="맑은 고딕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483864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121"/>
                </a:solidFill>
                <a:latin typeface="맑은 고딕"/>
                <a:ea typeface="맑은 고딕"/>
              </a:rPr>
              <a:t>계약 체결 (2026. 02. 06 발효)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197096"/>
            <a:ext cx="1005840" cy="54864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197096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맑은 고딕"/>
                <a:ea typeface="맑은 고딕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197096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121"/>
                </a:solidFill>
                <a:latin typeface="맑은 고딕"/>
                <a:ea typeface="맑은 고딕"/>
              </a:rPr>
              <a:t>라이선스 갱신 적용 및 연중 True-up 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74920"/>
            <a:ext cx="11155680" cy="1097280"/>
          </a:xfrm>
          <a:prstGeom prst="rect">
            <a:avLst/>
          </a:prstGeom>
          <a:solidFill>
            <a:srgbClr val="F2F7FC"/>
          </a:solidFill>
          <a:ln w="9525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3036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2314E"/>
                </a:solidFill>
                <a:latin typeface="맑은 고딕"/>
                <a:ea typeface="맑은 고딕"/>
              </a:rPr>
              <a:t>지원 사항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12121"/>
                </a:solidFill>
                <a:latin typeface="맑은 고딕"/>
                <a:ea typeface="맑은 고딕"/>
              </a:rPr>
              <a:t>· 계약 기간 중 라이선스 컴플라이언스 점검, True-up 수량 관리, 전담 담당자를 통한 기술·구매 문의 대응을 지원합니다.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BDD7EE"/>
                </a:solidFill>
                <a:latin typeface="맑은 고딕"/>
                <a:ea typeface="맑은 고딕"/>
              </a:rPr>
              <a:t>지난 3년간 쌓아온 신뢰를 바탕으로, 동아그룹의 다음 성장 단계까지 함께하겠습니다.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9DC3E6"/>
                </a:solidFill>
                <a:latin typeface="맑은 고딕"/>
                <a:ea typeface="맑은 고딕"/>
              </a:rPr>
              <a:t>안정적인 Microsoft 업무 환경으로 4개사의 지속적인 사업 성장을 뒷받침하겠습니다.</a:t>
            </a:r>
          </a:p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8EA9C1"/>
                </a:solidFill>
                <a:latin typeface="맑은 고딕"/>
                <a:ea typeface="맑은 고딕"/>
              </a:rPr>
              <a:t>본 제안서의 금액은 부가세 별도 기준이며, 최종 수량 확정 시 일부 조정될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