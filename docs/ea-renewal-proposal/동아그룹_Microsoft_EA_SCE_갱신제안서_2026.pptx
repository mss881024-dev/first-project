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-457200"/>
            <a:ext cx="3200400" cy="7772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28016" cy="128016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9669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3A3"/>
                </a:solidFill>
                <a:latin typeface="맑은 고딕"/>
                <a:ea typeface="맑은 고딕"/>
              </a:rPr>
              <a:t>MICROSOFT ENTERPRISE AGREEMENT  ·  SERVER &amp; CLOUD ENROLLMENT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B2A4A"/>
                </a:solidFill>
                <a:latin typeface="맑은 고딕"/>
                <a:ea typeface="맑은 고딕"/>
              </a:rPr>
              <a:t>동아그룹 주요 4개사</a:t>
            </a:r>
          </a:p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B2A4A"/>
                </a:solidFill>
                <a:latin typeface="맑은 고딕"/>
                <a:ea typeface="맑은 고딕"/>
              </a:rPr>
              <a:t>Microsoft EA·SCE 라이선스 갱신 제안서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8229600" cy="9525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계약기간 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2026. 03. 31 ~ 2028. 04. 01  (3년 차 갱신)</a:t>
            </a:r>
          </a:p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대상 법인 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동아쏘시오홀딩스㈜ · 동아에스티㈜ · 동아제약㈜ · 에스티젠바이오㈜</a:t>
            </a:r>
          </a:p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금액 기준 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부가세(VAT) 별도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8A93A3"/>
                </a:solidFill>
                <a:latin typeface="맑은 고딕"/>
                <a:ea typeface="맑은 고딕"/>
              </a:rPr>
              <a:t>2026년 7월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A4A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제안 개요 (Executive Summary)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50008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계약 구조 및 갱신 원칙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16936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9981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주요 4사 총계 비교 (EA+SCE)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962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49624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EA 라이선스 요약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16552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94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99432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SCE 라이선스 요약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66360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4924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회사별 상세 — 동아쏘시오홀딩스㈜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916168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002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6002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회사별 상세 — 동아에스티㈜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67128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35000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350008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회사별 상세 — 동아제약㈜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916936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09981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099816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회사별 상세 — 에스티젠바이오㈜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666744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4962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849624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증감 요인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416552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5994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599432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계약 조건 및 향후 일정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166360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01  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26Y 총 계약 1,308백만 원(+9.3%) — 증가분은 전액 사업 확장(True-up)에서 발생했습니다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7141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총 계약 금액 (EA+SCE, VAT 별도)</a:t>
            </a:r>
          </a:p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1,308,395,302원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25Y 1,196,718,702원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298" y="1463040"/>
            <a:ext cx="327141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E86C1A"/>
                </a:solidFill>
                <a:latin typeface="맑은 고딕"/>
                <a:ea typeface="맑은 고딕"/>
              </a:rPr>
              <a:t>+9.3%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증가액 111,676,600원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7258" y="1508760"/>
            <a:ext cx="9525" cy="96012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4476" y="1463040"/>
            <a:ext cx="327141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SCE 서버 라이선스 증감</a:t>
            </a:r>
          </a:p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0%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5개 품목 × 4사 전 품목 동결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14436" y="1508760"/>
            <a:ext cx="9525" cy="96012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5760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전체 총계 (단위: 원, VAT 별도)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200400"/>
          <a:ext cx="576071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786"/>
                <a:gridCol w="1464589"/>
                <a:gridCol w="1464589"/>
                <a:gridCol w="878753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증감률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 라이선스 (M365 E3)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934,197,600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1,045,874,200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+12%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SCE 라이선스 (서버)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262,521,102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262,521,102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총 합계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1,196,718,702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1,308,395,302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+9.3%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" y="3200400"/>
            <a:ext cx="5760720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84448"/>
            <a:ext cx="5760720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68496"/>
            <a:ext cx="576072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52544"/>
            <a:ext cx="5760720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736592"/>
            <a:ext cx="5760720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9260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핵심 메시지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46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2461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기존 비용은 그대로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EA Renewal과 SCE 서버 라이선스 전 품목이 4개사 모두 전년 금액 동결 — 단가 인상 요인 0원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336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233672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증가분 = 100% True-up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증가액 111,676,600원은 전액 사용자 244EA 순증의 정산분 (인상이 아닌 사용 확대)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2212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221224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성장 기업에 집중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에스티젠바이오 +130EA(+47%) · 동아에스티 +92EA(+9%) — 사업 확장이 만든 자연스러운 결과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02  |  CONTRACT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단가는 전면 동결 — 비용 변동은 오직 사용 규모(True-up)에만 연동됩니다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349240" cy="2377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38100" cy="237744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B2A4A"/>
                </a:solidFill>
                <a:latin typeface="맑은 고딕"/>
                <a:ea typeface="맑은 고딕"/>
              </a:rPr>
              <a:t>EA — Enterprise Agreement (M365 E3)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·  전사 사용자 대상 Microsoft 365 E3 볼륨 라이선스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·  Renewal(기존 인원 갱신) + True-up(연중 증가 인원 연 1회 정산) 구조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·  금회 갱신: Renewal 4사 전액 동결, True-up만 실사용 증가분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349240" cy="2377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38100" cy="237744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556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B2A4A"/>
                </a:solidFill>
                <a:latin typeface="맑은 고딕"/>
                <a:ea typeface="맑은 고딕"/>
              </a:rPr>
              <a:t>SCE — Server &amp; Cloud Enrollment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·  서버·개발 인프라 대상 3년 약정 Enrollment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·  SQL Server(Ent/Std Core) · Windows Server Core · Visual Studio Ent with GitHub · SecureON MS Unified Support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·  금회 갱신: 5개 품목 × 4사 전 품목 전년 동결 (0%)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금회 갱신 3원칙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86C1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단가 전면 동결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EA Renewal·SCE 서버 라이선스 모두 전년 계약 조건 그대로 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57200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86C1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57200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증가분만 정산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비용 변동은 True-up(사용 인원 순증)에만 연동 — 선구매·과잉 구매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4572000"/>
            <a:ext cx="9525" cy="118872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57200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86C1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57200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예산 예측 가능성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3년 약정 단가로 계약 기간 내 안정적인 IT 예산 수립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572000"/>
            <a:ext cx="9525" cy="118872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03  |  GROUP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4사 합계 +9.3% — 증가는 성장 중인 2개사(동아에스티·에스티젠바이오)에 집중되어 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5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회사별 EA+SCE 합계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115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485"/>
                <a:gridCol w="2262147"/>
                <a:gridCol w="2262147"/>
                <a:gridCol w="2129079"/>
                <a:gridCol w="133067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증감액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증감률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동아쏘시오홀딩스㈜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42,631,042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42,631,042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동아에스티㈜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627,649,860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672,640,260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+44,990,400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+7.2%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동아제약㈜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370,209,200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377,381,400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+7,172,200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+1.9%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에스티젠바이오㈜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156,228,600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215,742,600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+59,514,000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+38%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1,196,718,702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1,308,395,302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+9.3%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E86C1A"/>
                </a:solidFill>
                <a:latin typeface="맑은 고딕"/>
                <a:ea typeface="맑은 고딕"/>
              </a:rPr>
              <a:t>읽는 법  </a:t>
            </a: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증가액 전액이 EA True-up(사용자 순증)에서 발생 — SCE(서버)와 EA Renewal(기존 인원)은 4사 모두 동결입니다. 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에스티젠바이오·동아에스티의 증가율은 사업 확장에 따른 인력 확충이 라이선스 수요로 이어진 결과이며, 지주회사인 동아쏘시오홀딩스는 전 항목 변동이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04  |  EA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EA +12%는 사용자 244EA 증가의 결과이며, 단가 인상분은 0원입니다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6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— M365 E3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1153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1939828"/>
                <a:gridCol w="1939828"/>
                <a:gridCol w="1818589"/>
                <a:gridCol w="1091153"/>
                <a:gridCol w="157611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증감액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증감률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수량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동아쏘시오홀딩스㈜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변동 없음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동아에스티㈜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494,797,800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539,788,200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+44,990,400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1,249 → 1,341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동아제약㈜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275,801,400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282,973,600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+7,172,200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+2.6%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687 → 709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에스티젠바이오㈜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127,394,400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186,908,400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+59,514,000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+47%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300 → 430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합계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934,197,600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1,045,874,200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+12%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+244EA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21992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60904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99816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38728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16552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Renewal (기존 인원)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4사 전액 동결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기존 라이선스 비용 부담 변동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7298" y="484632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True-up 순증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E86C1A"/>
                </a:solidFill>
                <a:latin typeface="맑은 고딕"/>
                <a:ea typeface="맑은 고딕"/>
              </a:rPr>
              <a:t>+244EA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에스티젠 130 · 에스티 92 · 제약 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7258" y="4892040"/>
            <a:ext cx="9525" cy="82296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4476" y="484632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증가분의 성격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사용 확대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단가 인상이 아닌 사업 확장 반영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14436" y="4892040"/>
            <a:ext cx="9525" cy="82296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05  |  SCE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SCE 서버 라이선스는 5개 품목 × 4사 전체가 전년 동결입니다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— 25Y·26Y 동일 금액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1153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836"/>
                <a:gridCol w="1903174"/>
                <a:gridCol w="1903174"/>
                <a:gridCol w="1903174"/>
                <a:gridCol w="190317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동아쏘시오홀딩스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동아에스티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동아제약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에스티젠바이오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3,123,184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59,588,929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36,661,930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13,521,969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1,651,058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38,704,440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34,816,200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7,148,332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536,797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13,265,847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9,829,270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3,332,100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41,247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786,981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484,200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178,590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1,074,756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20,505,863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12,616,200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4,653,210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6,427,042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132,852,060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94,407,800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28,834,200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67128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51176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35224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1927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87368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471416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09000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SCE 4사 합계 (25Y = 26Y)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262,521,102원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전 품목 증감 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4892040"/>
            <a:ext cx="509000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비용 안정성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E86C1A"/>
                </a:solidFill>
                <a:latin typeface="맑은 고딕"/>
                <a:ea typeface="맑은 고딕"/>
              </a:rPr>
              <a:t>3년 약정 동결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서버 인프라 예산의 예측 가능성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4937760"/>
            <a:ext cx="9525" cy="82296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06  |  COMPANY DETAIL — 동아쏘시오홀딩스㈜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동아쏘시오홀딩스 — EA·SCE 전 항목 동결로 전년과 동일한 42,631,042원입니다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834640" cy="4160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38100" cy="41605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377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EA+SCE 합계 (VAT 별도)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42,631,042원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B2A4A"/>
                </a:solidFill>
                <a:latin typeface="맑은 고딕"/>
                <a:ea typeface="맑은 고딕"/>
              </a:rPr>
              <a:t>0%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전 항목 동결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EA 수량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EA 수량 변동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63040"/>
            <a:ext cx="77998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(M365 E3)  —  단위: 원, VAT 별도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49039" y="1737360"/>
          <a:ext cx="779982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Renewal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34,372,800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34,372,800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True-up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1,831,200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1,831,200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749039" y="1737360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2066544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2395728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72491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305409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246120"/>
            <a:ext cx="77998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 —  전 품목 동결 (25Y = 26Y)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49039" y="3520440"/>
          <a:ext cx="7799829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3,123,184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3,123,184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1,651,058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1,651,058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536,797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536,797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41,247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41,247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1,074,756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1,074,756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6,427,042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6,427,042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3749039" y="3520440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3817620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411480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441198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470916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500634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530352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560070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86C1A"/>
                </a:solidFill>
                <a:latin typeface="맑은 고딕"/>
                <a:ea typeface="맑은 고딕"/>
              </a:rPr>
              <a:t>비용 변동 사유  </a:t>
            </a: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그룹 지주회사로 인원 변동이 없어, EA·SCE 전 항목이 전년 계약 조건 그대로 유지됩니다.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07  |  COMPANY DETAIL — 동아에스티㈜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동아에스티 +7.2%는 True-up 92EA 반영분 — 기존 라이선스·서버 비용은 동결입니다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834640" cy="4160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38100" cy="41605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377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EA+SCE 합계 (VAT 별도)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672,640,260원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6C1A"/>
                </a:solidFill>
                <a:latin typeface="맑은 고딕"/>
                <a:ea typeface="맑은 고딕"/>
              </a:rPr>
              <a:t>+7.2%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86C1A"/>
                </a:solidFill>
                <a:latin typeface="맑은 고딕"/>
                <a:ea typeface="맑은 고딕"/>
              </a:rPr>
              <a:t>사업 확장 반영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EA 수량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1,249EA → 1,341EA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63040"/>
            <a:ext cx="77998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(M365 E3)  —  단위: 원, VAT 별도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49039" y="1737360"/>
          <a:ext cx="779982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Renewal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430,831,800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430,831,800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True-up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63,966,000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108,956,400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+70%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494,797,800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539,788,200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749039" y="1737360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2066544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2395728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72491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305409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246120"/>
            <a:ext cx="77998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 —  전 품목 동결 (25Y = 26Y)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49039" y="3520440"/>
          <a:ext cx="7799829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59,588,929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59,588,929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38,704,440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38,704,440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13,265,847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13,265,847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786,981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786,981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20,505,863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20,505,863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132,852,060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132,852,060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3749039" y="3520440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3817620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411480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441198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470916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500634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530352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560070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86C1A"/>
                </a:solidFill>
                <a:latin typeface="맑은 고딕"/>
                <a:ea typeface="맑은 고딕"/>
              </a:rPr>
              <a:t>비용 변동 사유  </a:t>
            </a: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증가액 44,990,400원은 전액 True-up 92EA의 정산분으로, 임직원 증가 등 사업 확장에 따른 사용 규모 확대를 반영합니다. Renewal·SCE는 전액 동결입니다.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08  |  COMPANY DETAIL — 동아제약㈜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동아제약 +1.9% — True-up 22EA 외 모든 항목이 동결입니다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834640" cy="4160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38100" cy="41605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377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EA+SCE 합계 (VAT 별도)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377,381,400원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B2A4A"/>
                </a:solidFill>
                <a:latin typeface="맑은 고딕"/>
                <a:ea typeface="맑은 고딕"/>
              </a:rPr>
              <a:t>+1.9%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소폭 증가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EA 수량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687EA → 709EA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63040"/>
            <a:ext cx="77998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(M365 E3)  —  단위: 원, VAT 별도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49039" y="1737360"/>
          <a:ext cx="779982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Renewal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224,985,600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224,985,600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True-up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50,815,800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57,988,000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+14%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275,801,400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282,973,600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+2.6%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749039" y="1737360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2066544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2395728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72491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305409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246120"/>
            <a:ext cx="77998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 —  전 품목 동결 (25Y = 26Y)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49039" y="3520440"/>
          <a:ext cx="7799829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36,661,930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36,661,930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34,816,200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34,816,200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9,829,270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9,829,270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484,200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484,200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12,616,200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12,616,200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94,407,800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94,407,800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3749039" y="3520440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3817620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411480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441198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470916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500634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530352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560070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86C1A"/>
                </a:solidFill>
                <a:latin typeface="맑은 고딕"/>
                <a:ea typeface="맑은 고딕"/>
              </a:rPr>
              <a:t>비용 변동 사유  </a:t>
            </a: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증가액 7,172,200원은 True-up 22EA의 정산분으로, 실사용 증가분만 반영된 최소 수준의 조정입니다. Renewal·SCE는 전액 동결입니다.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09  |  COMPANY DETAIL — 에스티젠바이오㈜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에스티젠바이오 +38%는 사업 확장(+130EA)이 만든 성장의 지표입니다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834640" cy="4160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38100" cy="41605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377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EA+SCE 합계 (VAT 별도)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215,742,600원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6C1A"/>
                </a:solidFill>
                <a:latin typeface="맑은 고딕"/>
                <a:ea typeface="맑은 고딕"/>
              </a:rPr>
              <a:t>+38%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86C1A"/>
                </a:solidFill>
                <a:latin typeface="맑은 고딕"/>
                <a:ea typeface="맑은 고딕"/>
              </a:rPr>
              <a:t>사업 확장 대폭 반영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EA 수량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300EA → 430EA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63040"/>
            <a:ext cx="77998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(M365 E3)  —  단위: 원, VAT 별도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49039" y="1737360"/>
          <a:ext cx="779982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Renewal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57,808,800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57,808,800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True-up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69,585,600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129,099,600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+86%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127,394,400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186,908,400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+47%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749039" y="1737360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2066544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2395728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72491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305409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246120"/>
            <a:ext cx="77998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 —  전 품목 동결 (25Y = 26Y)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49039" y="3520440"/>
          <a:ext cx="7799829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13,521,969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13,521,969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7,148,332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7,148,332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3,332,100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3,332,100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178,590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178,590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4,653,210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4,653,210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28,834,200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28,834,200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3749039" y="3520440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3817620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411480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441198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470916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500634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530352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560070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E86C1A"/>
                </a:solidFill>
                <a:latin typeface="맑은 고딕"/>
                <a:ea typeface="맑은 고딕"/>
              </a:rPr>
              <a:t>비용 변동 사유  </a:t>
            </a: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증가액 59,514,000원은 전액 True-up 130EA의 정산분입니다. 바이오 사업 확장에 따른 대규모 인력 확충이 그대로 반영된 결과로, Renewal·SCE는 전액 동결입니다.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10  |  GROWTH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증가액 111,676,600원 = True-up 100% — Renewal·SCE 인상은 없습니다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증가 요인 분해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115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678"/>
                <a:gridCol w="2234892"/>
                <a:gridCol w="2234892"/>
                <a:gridCol w="2234892"/>
                <a:gridCol w="118317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증감액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기여도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 Renewal 합계 (4사)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747,999,000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747,999,000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 True-up 합계 (4사)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186,198,600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297,875,200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SCE 합계 (4사)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262,521,102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262,521,102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총계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1,196,718,702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1,308,395,302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+9.3%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21992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60904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99816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38728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26Y True-up 순증 구성 — 총 +244EA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24078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에스티젠바이오㈜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6C1A"/>
                </a:solidFill>
                <a:latin typeface="맑은 고딕"/>
                <a:ea typeface="맑은 고딕"/>
              </a:rPr>
              <a:t>+130EA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300 → 430  ·  사업 확장에 따른 대규모 확충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2283" y="4709160"/>
            <a:ext cx="24078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동아에스티㈜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6C1A"/>
                </a:solidFill>
                <a:latin typeface="맑은 고딕"/>
                <a:ea typeface="맑은 고딕"/>
              </a:rPr>
              <a:t>+92EA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1,249 → 1,341  ·  임직원 증가 반영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7963" y="4754880"/>
            <a:ext cx="9525" cy="114300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166" y="4709160"/>
            <a:ext cx="24078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동아제약㈜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A4A"/>
                </a:solidFill>
                <a:latin typeface="맑은 고딕"/>
                <a:ea typeface="맑은 고딕"/>
              </a:rPr>
              <a:t>+22EA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687 → 709  ·  실사용 증가분 반영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6" y="4754880"/>
            <a:ext cx="9525" cy="114300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049" y="4709160"/>
            <a:ext cx="24078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동아쏘시오홀딩스㈜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8A93A3"/>
                </a:solidFill>
                <a:latin typeface="맑은 고딕"/>
                <a:ea typeface="맑은 고딕"/>
              </a:rPr>
              <a:t>0EA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변동 없음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729" y="4754880"/>
            <a:ext cx="9525" cy="114300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11  |  TERMS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계약 조건 요약 및 진행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EA·SCE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계약 조건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539496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/>
                <a:gridCol w="38963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계약기간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2026. 03. 31 ~ 2028. 04. 01  (3년 차 갱신)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계약 구성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EA(M365 E3) + SCE(서버·개발 인프라)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단가 조건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 Renewal·SCE 전 품목 전년 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부가세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별도 (VAT 미포함 금액 기준)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26Y 계약 총액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1,308,395,302원 (4사 합계)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5394960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03704"/>
            <a:ext cx="5394960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24328"/>
            <a:ext cx="539496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44952"/>
            <a:ext cx="539496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65576"/>
            <a:ext cx="539496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06824"/>
            <a:ext cx="5394960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진행 일정 (제안)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82880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A4356"/>
                </a:solidFill>
                <a:latin typeface="맑은 고딕"/>
                <a:ea typeface="맑은 고딕"/>
              </a:rPr>
              <a:t>제안서 검토 및 회사별 수량 확정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359152"/>
            <a:ext cx="502920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8716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487168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A4356"/>
                </a:solidFill>
                <a:latin typeface="맑은 고딕"/>
                <a:ea typeface="맑은 고딕"/>
              </a:rPr>
              <a:t>견적 확정 및 내부 품의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017520"/>
            <a:ext cx="502920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14553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45536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A4356"/>
                </a:solidFill>
                <a:latin typeface="맑은 고딕"/>
                <a:ea typeface="맑은 고딕"/>
              </a:rPr>
              <a:t>계약 체결 (2026. 03. 31 발효)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675888"/>
            <a:ext cx="502920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03904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803904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A4356"/>
                </a:solidFill>
                <a:latin typeface="맑은 고딕"/>
                <a:ea typeface="맑은 고딕"/>
              </a:rPr>
              <a:t>갱신 적용 및 연중 True-up 관리 지원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334256"/>
            <a:ext cx="502920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86C1A"/>
                </a:solidFill>
                <a:latin typeface="맑은 고딕"/>
                <a:ea typeface="맑은 고딕"/>
              </a:rPr>
              <a:t>지원 사항  </a:t>
            </a: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계약 기간 중 라이선스 컴플라이언스 점검, True-up 수량 관리, SecureON MS Unified Support 기반 기술 지원 및 전담 담당자를 통한 구매 문의 대응을 제공합니다.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-457200"/>
            <a:ext cx="3200400" cy="7772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28016" cy="128016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081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3A3"/>
                </a:solidFill>
                <a:latin typeface="맑은 고딕"/>
                <a:ea typeface="맑은 고딕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B2A4A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8961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  </a:t>
            </a:r>
            <a:r>
              <a:rPr sz="1300" b="1" i="0">
                <a:solidFill>
                  <a:srgbClr val="1B2A4A"/>
                </a:solidFill>
                <a:latin typeface="맑은 고딕"/>
                <a:ea typeface="맑은 고딕"/>
              </a:rPr>
              <a:t>기존 비용은 동결로 지키고, 성장에 필요한 만큼만 더하는 갱신을 제안드립니다.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동아그룹 4개사의 안정적인 Microsoft 업무·서버 환경과 사업 확장을 계속 지원하겠습니다.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제안서 검토 후 수량 확정을 요청드리며, 2026년 3월 31일 계약 발효를 목표로 진행하겠습니다.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본 제안서의 금액은 부가세 별도 기준이며, 최종 수량 확정 시 일부 조정될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